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 I'm going to make one argument and back it with receipts. The argument is that the daily work of an environmental statistician is being reshaped by AI coding agents plus AI-for-science models, and the honest way to show that is BEFORE versus AFTER on tasks you already do. Everything on these slides is backed by a companion repository with runnable code and committed numbers, so nothing here is a demo-day illusion.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a 2026 conversation and not a 2020 one? Three things matured at once: coding agents that can actually run and debug your pipeline, domain models trained for science, and GPUs cheap enough to sit under your desk. The consequence is that the rate-limiting step is no longer writing code or finding compute — it is posing a well-formed scientific question and validating the answer, which is exactly the statistician's strength.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talk tooling, here's the map of the work. I've grouped environmental-statistics tasks into a small taxonomy, and the companion repo has a paired experiment for the first four cells plus a backlog for the rest. The point of the map is honesty about scope: AI helps unevenly across these cells, and I'll show you where it helps a lot and where the human still carries the 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framing for the whole talk. For each task I hold the science fixed — same dataset, same metric, same validation — and change only the workflow. BEFORE is the careful artisanal pipeline we all know. AFTER is briefing a coding agent that writes, runs, and reports. The claim is not "better statistics," it's "the same rigor, dramatically faster iteration," and I'll be explicit when AFTER is merely faster versus actually better.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address the obvious objection up front, because you're statisticians. Faster is only interesting if it's still valid. So in this repo rigor is a gate the agent must pass, not a nicety — chronological splits so we never leak the future, latitude weighting for gridded skill scores, explicit handling of multiple testing, and uncertainty on every estimate. The division of labor is simple: the agent does the typing and running; the human owns the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to hero" is a ladder, not a leap. Level one is using the agent as a smart assistant for a single function or plot. Level two is handing it an entire pipeline. Level three is when you teach it reusable skills and your conventions so it behaves like a trained lab member. Level four is autonomous research, which I'll demo near the end. The reassuring part is that level one pays off on day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the receipts. Four paired experiments follow; every figure I quote is committed in RESULTS.md and reproducible with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it concrete. This experiment forecasts a daily temperature series and scores it with RMSE and anomaly correlation, the standard skill metric in numerical weather prediction. I run one command; it executes both the traditional baseline and the learned model, then writes the metrics and a plot. Watch the time it takes — and note that the validation split is chronological so we are not cheating by peeking at the future. The exact numbers are in RESULTS.md so I never quote a figure I haven't measured.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Extremes are where statisticians are rightly protective, so here the estimator is unchanged — it's still Mann-Kendall and a GEV fit. What changes is that the agent assembles the pipeline, attaches confidence intervals, and runs the rigor checklist automatically, including a note on multiple testing if we scan many stations. The lesson is that AFTER doesn't reinvent extreme-value theory; it removes the glue-code tax and makes the uncertainty reporting non-optional.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cell where AFTER is not just faster but genuinely better. Pulling species interactions out of unstructured text with regex is brittle and misses paraphrase. A structured-LLM extraction recovers far more of the signal — but, crucially, we score it with precision and recall against a labeled set rather than trusting it. So even here, the believable version of the result is the one with a confusion-matrix-grade evaluation attached.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Remote sensing is the most compute-flavored cell, and it's where the desktop GPU earns its keep. The traditional move is a random forest on spectral indices; the AFTER move is a small CNN with pretrained embeddings, trained on the 4090 in minutes. I report accuracy and macro-F1, not just overall accuracy, because class imbalance is the norm in land cover. EagleVision is the kind of verifiable work showing this modality is maturing fast.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Hydrology is the cell where AFTER cleanly wins on the science, not just on speed. A linear or conceptual bucket model can't carry the catchment's memory — soil moisture, snowpack, routing — so it tops out around an NSE of 0.14 here. An LSTM rainfall-runoff model carries that state and reaches 0.70, a +0.56 NSE gain, which is the well-documented LSTM-hydrology result from the literature reproduced in one command. The gap widens with more data, and every number here is committed in RESULTS.md.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Uncertainty is mandatory for this audience, so this experiment asks a blunt question: do our prediction intervals actually cover at the rate we claim? Normal-theory intervals look fine on paper but, under heavy tails, an 80% interval here covers 86.9% — miscalibrated, and the over-coverage hides bands that are the wrong width. Split conformal prediction gives distribution-free finite-sample coverage: the mean gap drops from 0.033 to 0.004, roughly seven times tighter, and the bands get narrower too. It's both a calibration and a sharpness win, committed in RESULTS.md.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hierarchical inference is the cell where amortization changes the economics. BEFORE we re-ran an honest Metropolis-Hastings sampler for every new dataset — about 11.6 seconds each, fine for one, painful for thousands. AFTER, a small MLP trained once over simulations scores a new dataset in 0.008 seconds, roughly 1451× faster, and the 24.5-second training cost pays back by the second dataset. Coverage matches at the nominal 95%, and I'm explicit that the amortized intervals are wider — you're trading a little sharpness for enormous speed.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distribution modeling is a cell where AFTER wins cleanly on every metric — modestly on AUC (+0.023) and Brier (−0.002), but dramatically on true-suitability correlation (+0.188). That last number is the one that matters scientifically: the gradient boosting model recovers the elevation by climate interaction that defines the niche, which a logistic GLM with squared terms structurally can't encode. I keep the GLM as the safer choice for extrapolation, because nothing about boosting saves you outside the training envelope.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flagship: an autonomous, gated research loop running unattended on a single 4090.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that feels like science fiction but isn't. The autoresearch loop turns Claude Code into the researcher: it diagnoses the current best model, cites prior work, forms a hypothesis, predicts the outcome, runs exactly one experiment, analyzes it, and checkpoints. Two gates matter for this audience — it cannot run an experiment until its citations and its reasoning pass a completeness check, which is the machine-enforced version of "don't fish." It produces a champion archive and a human-readable journal you can audit afterward.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careful here, because over-claiming would lose this room. The loop is excellent at exhaustively and transparently searching a space you define and archiving what wins. It does not pick the question, the loss function, or the standard of validity — that is your job, and the system is designed to keep it your job, including a fingerprint that flags if the objective quietly drifts mid-run. Treat its output as a well-documented draft to review, never as an oracle.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failure modes I worry about, and how this setup defends against each. Leakage is the big one, so splits are chronological or spatial by construction. Multiplicity is corrected explicitly when we scan many units. Uncertainty is reported as intervals, never bare point estimates. And because LLMs can fabricate references, anything not independently verified is quarantined and never stated as fact — that discipline is why I keep saying "see RESULTS.md" instead of quoting numbers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next steps, because I want you to leave with momentum. Today, just install the agent and ask it to redraw one figure from your most recent paper — low stakes, instant intuition. This week, give it a whole small pipeline end to end. This month, encode your group's validation rules as a reusable skill so the agent inherits your standards. Start on synthetic or small public data so nothing blocks you, then scale to real data and the GPU.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out. If labor stops being the constraint, then judgment becomes the differentiator — and judgment is what statistical training produces. I think the near future is each of us orchestrating a handful of agents across the taxonomy, with better audit trails than we have today because everything is logged and reproducible. The role doesn't shrink; it moves up the stack to the parts that were always the science.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Everything I showed lives in the companion repo, including this deck and a one-page handout with copy-paste prompts you can try tonight. The whole thing is reproducible: python run_all_tests.py runs the tests, and each experiment's run_before_after.py regenerates its committed results. The papers on this slide are the verifiable anchors I built on — arXiv IDs so you can check them yourself — and the datasets are the standard open sources in our field. I'm happy to take questions, and I'm especially interested in where you think the human-in-the-loop checks need to be stronger.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1463040"/>
            <a:ext cx="12191695" cy="201168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0" rIns="640080"/>
          <a:lstStyle/>
          <a:p>
            <a:pPr algn="l"/>
            <a:r>
              <a:rPr sz="4000" b="1" i="0">
                <a:solidFill>
                  <a:srgbClr val="FFFFFF"/>
                </a:solidFill>
                <a:latin typeface="Calibri"/>
              </a:rPr>
              <a:t>From Data to Discovery</a:t>
            </a:r>
          </a:p>
        </p:txBody>
      </p:sp>
      <p:sp>
        <p:nvSpPr>
          <p:cNvPr id="3" name="TextBox 2"/>
          <p:cNvSpPr txBox="1"/>
          <p:nvPr/>
        </p:nvSpPr>
        <p:spPr>
          <a:xfrm>
            <a:off x="640080" y="3657600"/>
            <a:ext cx="10908792" cy="2011680"/>
          </a:xfrm>
          <a:prstGeom prst="rect">
            <a:avLst/>
          </a:prstGeom>
          <a:noFill/>
        </p:spPr>
        <p:txBody>
          <a:bodyPr wrap="square">
            <a:spAutoFit/>
          </a:bodyPr>
          <a:lstStyle/>
          <a:p>
            <a:pPr>
              <a:spcAft>
                <a:spcPts val="600"/>
              </a:spcAft>
            </a:pPr>
            <a:r>
              <a:rPr sz="1600" b="0" i="0">
                <a:solidFill>
                  <a:srgbClr val="333333"/>
                </a:solidFill>
                <a:latin typeface="Calibri"/>
              </a:rPr>
              <a:t>Transforming Environmental Statistics with Claude Code &amp; AI-for-Science</a:t>
            </a:r>
          </a:p>
          <a:p>
            <a:pPr>
              <a:spcAft>
                <a:spcPts val="600"/>
              </a:spcAft>
            </a:pPr>
            <a:r>
              <a:rPr sz="1600" b="0" i="0">
                <a:solidFill>
                  <a:srgbClr val="333333"/>
                </a:solidFill>
                <a:latin typeface="Calibri"/>
              </a:rPr>
              <a:t>Presenter · affiliation · contact: eranti@gmail.com</a:t>
            </a:r>
          </a:p>
          <a:p>
            <a:pPr>
              <a:spcAft>
                <a:spcPts val="600"/>
              </a:spcAft>
            </a:pPr>
            <a:r>
              <a:rPr sz="1600" b="0" i="0">
                <a:solidFill>
                  <a:srgbClr val="333333"/>
                </a:solidFill>
                <a:latin typeface="Calibri"/>
              </a:rPr>
              <a:t>Session: "Modern Approaches to Environmental Statistics" · Mexico City, Dec 2026</a:t>
            </a:r>
          </a:p>
          <a:p>
            <a:pPr>
              <a:spcAft>
                <a:spcPts val="600"/>
              </a:spcAft>
            </a:pPr>
            <a:r>
              <a:rPr sz="1600" b="0" i="0">
                <a:solidFill>
                  <a:srgbClr val="333333"/>
                </a:solidFill>
                <a:latin typeface="Calibri"/>
              </a:rPr>
              <a:t>One-line thesis: same scientific question, BEFORE vs AFTER.</a:t>
            </a:r>
          </a:p>
          <a:p>
            <a:pPr>
              <a:spcAft>
                <a:spcPts val="600"/>
              </a:spcAft>
            </a:pPr>
            <a:r>
              <a:rPr sz="1600" b="0" i="0">
                <a:solidFill>
                  <a:srgbClr val="333333"/>
                </a:solidFill>
                <a:latin typeface="Calibri"/>
              </a:rPr>
              <a:t>Every claim today points to runnable code with committed results.</a:t>
            </a:r>
          </a:p>
        </p:txBody>
      </p:sp>
      <p:sp>
        <p:nvSpPr>
          <p:cNvPr id="4" name="TextBox 3"/>
          <p:cNvSpPr txBox="1"/>
          <p:nvPr/>
        </p:nvSpPr>
        <p:spPr>
          <a:xfrm>
            <a:off x="640080" y="5669280"/>
            <a:ext cx="10908792" cy="640080"/>
          </a:xfrm>
          <a:prstGeom prst="rect">
            <a:avLst/>
          </a:prstGeom>
          <a:noFill/>
        </p:spPr>
        <p:txBody>
          <a:bodyPr wrap="square">
            <a:spAutoFit/>
          </a:bodyPr>
          <a:lstStyle/>
          <a:p>
            <a:r>
              <a:rPr sz="1100" b="0" i="1">
                <a:solidFill>
                  <a:srgbClr val="9AA0A6"/>
                </a:solidFill>
                <a:latin typeface="Calibri"/>
              </a:rPr>
              <a:t>[Visual placeholder] Split-screen title image — left a hand-drawn time-series on graph paper (BEFORE), right a terminal + forecast plot (AFTER); muted grey vs blue palette (#9aa0a6 / #1a73e8).</a:t>
            </a:r>
          </a:p>
        </p:txBody>
      </p:sp>
      <p:sp>
        <p:nvSpPr>
          <p:cNvPr id="5" name="TextBox 4"/>
          <p:cNvSpPr txBox="1"/>
          <p:nvPr/>
        </p:nvSpPr>
        <p:spPr>
          <a:xfrm>
            <a:off x="640080" y="6126480"/>
            <a:ext cx="10908792" cy="548640"/>
          </a:xfrm>
          <a:prstGeom prst="rect">
            <a:avLst/>
          </a:prstGeom>
          <a:noFill/>
        </p:spPr>
        <p:txBody>
          <a:bodyPr wrap="square">
            <a:spAutoFit/>
          </a:bodyPr>
          <a:lstStyle/>
          <a:p>
            <a:r>
              <a:rPr sz="1500" b="1" i="0">
                <a:solidFill>
                  <a:srgbClr val="188038"/>
                </a:solidFill>
                <a:latin typeface="Calibri"/>
              </a:rPr>
              <a:t>TAKEAWAY: This is a working talk: every claim has runnable code behind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Why now</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Three curves crossed: capable coding agents, AI-for-science models, commodity GPUs (a single RTX 4090 ~16 GB)</a:t>
            </a:r>
          </a:p>
          <a:p>
            <a:pPr>
              <a:lnSpc>
                <a:spcPct val="110000"/>
              </a:lnSpc>
              <a:spcAft>
                <a:spcPts val="1200"/>
              </a:spcAft>
            </a:pPr>
            <a:r>
              <a:rPr sz="1800" b="1" i="0">
                <a:solidFill>
                  <a:srgbClr val="188038"/>
                </a:solidFill>
                <a:latin typeface="Calibri"/>
              </a:rPr>
              <a:t>•  </a:t>
            </a:r>
            <a:r>
              <a:rPr sz="1800" b="0" i="0">
                <a:solidFill>
                  <a:srgbClr val="333333"/>
                </a:solidFill>
                <a:latin typeface="Calibri"/>
              </a:rPr>
              <a:t>The bottleneck moved from compute and code to asking the right scientific question</a:t>
            </a:r>
          </a:p>
          <a:p>
            <a:pPr>
              <a:lnSpc>
                <a:spcPct val="110000"/>
              </a:lnSpc>
              <a:spcAft>
                <a:spcPts val="1200"/>
              </a:spcAft>
            </a:pPr>
            <a:r>
              <a:rPr sz="1800" b="1" i="0">
                <a:solidFill>
                  <a:srgbClr val="188038"/>
                </a:solidFill>
                <a:latin typeface="Calibri"/>
              </a:rPr>
              <a:t>•  </a:t>
            </a:r>
            <a:r>
              <a:rPr sz="1800" b="0" i="0">
                <a:solidFill>
                  <a:srgbClr val="333333"/>
                </a:solidFill>
                <a:latin typeface="Calibri"/>
              </a:rPr>
              <a:t>Verifiable signals this is real: ClimateLLM (arXiv:2502.11059), CLLMate (arXiv:2409.19058), EagleVision (arXiv:2503.23330)</a:t>
            </a:r>
          </a:p>
          <a:p>
            <a:pPr>
              <a:lnSpc>
                <a:spcPct val="110000"/>
              </a:lnSpc>
              <a:spcAft>
                <a:spcPts val="1200"/>
              </a:spcAft>
            </a:pPr>
            <a:r>
              <a:rPr sz="1800" b="1" i="0">
                <a:solidFill>
                  <a:srgbClr val="188038"/>
                </a:solidFill>
                <a:latin typeface="Calibri"/>
              </a:rPr>
              <a:t>•  </a:t>
            </a:r>
            <a:r>
              <a:rPr sz="1800" b="0" i="0">
                <a:solidFill>
                  <a:srgbClr val="333333"/>
                </a:solidFill>
                <a:latin typeface="Calibri"/>
              </a:rPr>
              <a:t>Open data is abundant: ERA5, GBIF, Sentinel-2, CAMELS, OpenAQ</a:t>
            </a:r>
          </a:p>
          <a:p>
            <a:pPr>
              <a:lnSpc>
                <a:spcPct val="110000"/>
              </a:lnSpc>
              <a:spcAft>
                <a:spcPts val="1200"/>
              </a:spcAft>
            </a:pPr>
            <a:r>
              <a:rPr sz="1800" b="1" i="0">
                <a:solidFill>
                  <a:srgbClr val="188038"/>
                </a:solidFill>
                <a:latin typeface="Calibri"/>
              </a:rPr>
              <a:t>•  </a:t>
            </a:r>
            <a:r>
              <a:rPr sz="1800" b="0" i="0">
                <a:solidFill>
                  <a:srgbClr val="333333"/>
                </a:solidFill>
                <a:latin typeface="Calibri"/>
              </a:rPr>
              <a:t>Not "AI replaces the statistician" — "the statistician now drives a team of agents"</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Three overlapping curves (agent capability / AI-for-science models / affordable GPU) crossing a "good enough for daily research" line; no fabricated y-axis values — qualitative shape only, labeled "schematic."</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The bottleneck moved from code to questions — and that favors statisticians.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The field map: a taxonomy of environmental-statistics tasks</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Forecasting (climate/weather time series) → Exp01</a:t>
            </a:r>
          </a:p>
          <a:p>
            <a:pPr>
              <a:lnSpc>
                <a:spcPct val="110000"/>
              </a:lnSpc>
              <a:spcAft>
                <a:spcPts val="1200"/>
              </a:spcAft>
            </a:pPr>
            <a:r>
              <a:rPr sz="1800" b="1" i="0">
                <a:solidFill>
                  <a:srgbClr val="188038"/>
                </a:solidFill>
                <a:latin typeface="Calibri"/>
              </a:rPr>
              <a:t>•  </a:t>
            </a:r>
            <a:r>
              <a:rPr sz="1800" b="0" i="0">
                <a:solidFill>
                  <a:srgbClr val="333333"/>
                </a:solidFill>
                <a:latin typeface="Calibri"/>
              </a:rPr>
              <a:t>Extremes &amp; trend detection (GEV/POT, Mann-Kendall) → Exp02</a:t>
            </a:r>
          </a:p>
          <a:p>
            <a:pPr>
              <a:lnSpc>
                <a:spcPct val="110000"/>
              </a:lnSpc>
              <a:spcAft>
                <a:spcPts val="1200"/>
              </a:spcAft>
            </a:pPr>
            <a:r>
              <a:rPr sz="1800" b="1" i="0">
                <a:solidFill>
                  <a:srgbClr val="188038"/>
                </a:solidFill>
                <a:latin typeface="Calibri"/>
              </a:rPr>
              <a:t>•  </a:t>
            </a:r>
            <a:r>
              <a:rPr sz="1800" b="0" i="0">
                <a:solidFill>
                  <a:srgbClr val="333333"/>
                </a:solidFill>
                <a:latin typeface="Calibri"/>
              </a:rPr>
              <a:t>Information extraction from text (events, species interactions) → Exp03</a:t>
            </a:r>
          </a:p>
          <a:p>
            <a:pPr>
              <a:lnSpc>
                <a:spcPct val="110000"/>
              </a:lnSpc>
              <a:spcAft>
                <a:spcPts val="1200"/>
              </a:spcAft>
            </a:pPr>
            <a:r>
              <a:rPr sz="1800" b="1" i="0">
                <a:solidFill>
                  <a:srgbClr val="188038"/>
                </a:solidFill>
                <a:latin typeface="Calibri"/>
              </a:rPr>
              <a:t>•  </a:t>
            </a:r>
            <a:r>
              <a:rPr sz="1800" b="0" i="0">
                <a:solidFill>
                  <a:srgbClr val="333333"/>
                </a:solidFill>
                <a:latin typeface="Calibri"/>
              </a:rPr>
              <a:t>Remote sensing / land cover (spatial classification) → Exp04</a:t>
            </a:r>
          </a:p>
          <a:p>
            <a:pPr>
              <a:lnSpc>
                <a:spcPct val="110000"/>
              </a:lnSpc>
              <a:spcAft>
                <a:spcPts val="1200"/>
              </a:spcAft>
            </a:pPr>
            <a:r>
              <a:rPr sz="1800" b="1" i="0">
                <a:solidFill>
                  <a:srgbClr val="188038"/>
                </a:solidFill>
                <a:latin typeface="Calibri"/>
              </a:rPr>
              <a:t>•  </a:t>
            </a:r>
            <a:r>
              <a:rPr sz="1800" b="0" i="0">
                <a:solidFill>
                  <a:srgbClr val="333333"/>
                </a:solidFill>
                <a:latin typeface="Calibri"/>
              </a:rPr>
              <a:t>Cross-cutting: spatial stats, UQ, Bayesian hierarchical, source apportionment (backlog)</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A 5-cell taxonomy grid; each cell carries its experiment number and a tiny icon, with a column on the right reading "where AI/Claude Code fits." Reference docs/taxonomy.md.</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Map the work first; AI's leverage differs cell by cell.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The BEFORE/AFTER paradigm</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BEFORE: one person, specialist tools, glue scripts, days-to-weeks per study</a:t>
            </a:r>
          </a:p>
          <a:p>
            <a:pPr>
              <a:lnSpc>
                <a:spcPct val="110000"/>
              </a:lnSpc>
              <a:spcAft>
                <a:spcPts val="1200"/>
              </a:spcAft>
            </a:pPr>
            <a:r>
              <a:rPr sz="1800" b="1" i="0">
                <a:solidFill>
                  <a:srgbClr val="188038"/>
                </a:solidFill>
                <a:latin typeface="Calibri"/>
              </a:rPr>
              <a:t>•  </a:t>
            </a:r>
            <a:r>
              <a:rPr sz="1800" b="0" i="0">
                <a:solidFill>
                  <a:srgbClr val="333333"/>
                </a:solidFill>
                <a:latin typeface="Calibri"/>
              </a:rPr>
              <a:t>AFTER: you brief an agent; it writes code, runs it, plots, and reports — minutes-to-hours</a:t>
            </a:r>
          </a:p>
          <a:p>
            <a:pPr>
              <a:lnSpc>
                <a:spcPct val="110000"/>
              </a:lnSpc>
              <a:spcAft>
                <a:spcPts val="1200"/>
              </a:spcAft>
            </a:pPr>
            <a:r>
              <a:rPr sz="1800" b="1" i="0">
                <a:solidFill>
                  <a:srgbClr val="188038"/>
                </a:solidFill>
                <a:latin typeface="Calibri"/>
              </a:rPr>
              <a:t>•  </a:t>
            </a:r>
            <a:r>
              <a:rPr sz="1800" b="0" i="0">
                <a:solidFill>
                  <a:srgbClr val="333333"/>
                </a:solidFill>
                <a:latin typeface="Calibri"/>
              </a:rPr>
              <a:t>The unit of comparison: same question, same data, same metric — only the workflow changes</a:t>
            </a:r>
          </a:p>
          <a:p>
            <a:pPr>
              <a:lnSpc>
                <a:spcPct val="110000"/>
              </a:lnSpc>
              <a:spcAft>
                <a:spcPts val="1200"/>
              </a:spcAft>
            </a:pPr>
            <a:r>
              <a:rPr sz="1800" b="1" i="0">
                <a:solidFill>
                  <a:srgbClr val="188038"/>
                </a:solidFill>
                <a:latin typeface="Calibri"/>
              </a:rPr>
              <a:t>•  </a:t>
            </a:r>
            <a:r>
              <a:rPr sz="1800" b="0" i="0">
                <a:solidFill>
                  <a:srgbClr val="333333"/>
                </a:solidFill>
                <a:latin typeface="Calibri"/>
              </a:rPr>
              <a:t>What is preserved: the statistics (assumptions, splits, multiple testing, uncertainty)</a:t>
            </a:r>
          </a:p>
          <a:p>
            <a:pPr>
              <a:lnSpc>
                <a:spcPct val="110000"/>
              </a:lnSpc>
              <a:spcAft>
                <a:spcPts val="1200"/>
              </a:spcAft>
            </a:pPr>
            <a:r>
              <a:rPr sz="1800" b="1" i="0">
                <a:solidFill>
                  <a:srgbClr val="188038"/>
                </a:solidFill>
                <a:latin typeface="Calibri"/>
              </a:rPr>
              <a:t>•  </a:t>
            </a:r>
            <a:r>
              <a:rPr sz="1800" b="0" i="0">
                <a:solidFill>
                  <a:srgbClr val="333333"/>
                </a:solidFill>
                <a:latin typeface="Calibri"/>
              </a:rPr>
              <a:t>What changes: iteration speed and the breadth of what you can try</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Two swim-lanes (BEFORE grey / AFTER blue) for the same task, each with its step sequence; the AFTER lane is visibly shorter. Pull from docs/before_after.md.</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Hold the science fixed; change only the workflow — then measure.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Does "faster" mean "sloppier"? Rigor is the constraint</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Speed without validity is worthless to this audience — so rigor is a hard gate, not an afterthought</a:t>
            </a:r>
          </a:p>
          <a:p>
            <a:pPr>
              <a:lnSpc>
                <a:spcPct val="110000"/>
              </a:lnSpc>
              <a:spcAft>
                <a:spcPts val="1200"/>
              </a:spcAft>
            </a:pPr>
            <a:r>
              <a:rPr sz="1800" b="1" i="0">
                <a:solidFill>
                  <a:srgbClr val="188038"/>
                </a:solidFill>
                <a:latin typeface="Calibri"/>
              </a:rPr>
              <a:t>•  </a:t>
            </a:r>
            <a:r>
              <a:rPr sz="1800" b="0" i="0">
                <a:solidFill>
                  <a:srgbClr val="333333"/>
                </a:solidFill>
                <a:latin typeface="Calibri"/>
              </a:rPr>
              <a:t>The repo encodes a statistical-rigor checklist: leakage, train/val/test discipline, multiple testing, uncertainty</a:t>
            </a:r>
          </a:p>
          <a:p>
            <a:pPr>
              <a:lnSpc>
                <a:spcPct val="110000"/>
              </a:lnSpc>
              <a:spcAft>
                <a:spcPts val="1200"/>
              </a:spcAft>
            </a:pPr>
            <a:r>
              <a:rPr sz="1800" b="1" i="0">
                <a:solidFill>
                  <a:srgbClr val="188038"/>
                </a:solidFill>
                <a:latin typeface="Calibri"/>
              </a:rPr>
              <a:t>•  </a:t>
            </a:r>
            <a:r>
              <a:rPr sz="1800" b="0" i="0">
                <a:solidFill>
                  <a:srgbClr val="333333"/>
                </a:solidFill>
                <a:latin typeface="Calibri"/>
              </a:rPr>
              <a:t>Chronological splits for time series (never leak the future): common.synthetic_climate.time_split</a:t>
            </a:r>
          </a:p>
          <a:p>
            <a:pPr>
              <a:lnSpc>
                <a:spcPct val="110000"/>
              </a:lnSpc>
              <a:spcAft>
                <a:spcPts val="1200"/>
              </a:spcAft>
            </a:pPr>
            <a:r>
              <a:rPr sz="1800" b="1" i="0">
                <a:solidFill>
                  <a:srgbClr val="188038"/>
                </a:solidFill>
                <a:latin typeface="Calibri"/>
              </a:rPr>
              <a:t>•  </a:t>
            </a:r>
            <a:r>
              <a:rPr sz="1800" b="0" i="0">
                <a:solidFill>
                  <a:srgbClr val="333333"/>
                </a:solidFill>
                <a:latin typeface="Calibri"/>
              </a:rPr>
              <a:t>Latitude-weighted RMSE / ACC for gridded fields: common.metrics</a:t>
            </a:r>
          </a:p>
          <a:p>
            <a:pPr>
              <a:lnSpc>
                <a:spcPct val="110000"/>
              </a:lnSpc>
              <a:spcAft>
                <a:spcPts val="1200"/>
              </a:spcAft>
            </a:pPr>
            <a:r>
              <a:rPr sz="1800" b="1" i="0">
                <a:solidFill>
                  <a:srgbClr val="188038"/>
                </a:solidFill>
                <a:latin typeface="Calibri"/>
              </a:rPr>
              <a:t>•  </a:t>
            </a:r>
            <a:r>
              <a:rPr sz="1800" b="0" i="0">
                <a:solidFill>
                  <a:srgbClr val="333333"/>
                </a:solidFill>
                <a:latin typeface="Calibri"/>
              </a:rPr>
              <a:t>The human signs off on assumptions; the agent does the labor</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A "rigor checklist" card (leakage / splits / multiplicity / UQ / reproducibility) stamped over the AFTER lane; cite the env-stats-validate skill.</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Speed is only credible when rigor is a hard gate.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Zero to hero: the Claude Code ladder</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L1 — Assistant: ask for a function, a plot, a sanity check</a:t>
            </a:r>
          </a:p>
          <a:p>
            <a:pPr>
              <a:lnSpc>
                <a:spcPct val="110000"/>
              </a:lnSpc>
              <a:spcAft>
                <a:spcPts val="1200"/>
              </a:spcAft>
            </a:pPr>
            <a:r>
              <a:rPr sz="1800" b="1" i="0">
                <a:solidFill>
                  <a:srgbClr val="188038"/>
                </a:solidFill>
                <a:latin typeface="Calibri"/>
              </a:rPr>
              <a:t>•  </a:t>
            </a:r>
            <a:r>
              <a:rPr sz="1800" b="0" i="0">
                <a:solidFill>
                  <a:srgbClr val="333333"/>
                </a:solidFill>
                <a:latin typeface="Calibri"/>
              </a:rPr>
              <a:t>L2 — Pipeline builder: "fetch the data, fit the model, validate, plot, report"</a:t>
            </a:r>
          </a:p>
          <a:p>
            <a:pPr>
              <a:lnSpc>
                <a:spcPct val="110000"/>
              </a:lnSpc>
              <a:spcAft>
                <a:spcPts val="1200"/>
              </a:spcAft>
            </a:pPr>
            <a:r>
              <a:rPr sz="1800" b="1" i="0">
                <a:solidFill>
                  <a:srgbClr val="188038"/>
                </a:solidFill>
                <a:latin typeface="Calibri"/>
              </a:rPr>
              <a:t>•  </a:t>
            </a:r>
            <a:r>
              <a:rPr sz="1800" b="0" i="0">
                <a:solidFill>
                  <a:srgbClr val="333333"/>
                </a:solidFill>
                <a:latin typeface="Calibri"/>
              </a:rPr>
              <a:t>L3 — Skilled operator: reusable skills (data-fetch, stats-validate) + project conventions</a:t>
            </a:r>
          </a:p>
          <a:p>
            <a:pPr>
              <a:lnSpc>
                <a:spcPct val="110000"/>
              </a:lnSpc>
              <a:spcAft>
                <a:spcPts val="1200"/>
              </a:spcAft>
            </a:pPr>
            <a:r>
              <a:rPr sz="1800" b="1" i="0">
                <a:solidFill>
                  <a:srgbClr val="188038"/>
                </a:solidFill>
                <a:latin typeface="Calibri"/>
              </a:rPr>
              <a:t>•  </a:t>
            </a:r>
            <a:r>
              <a:rPr sz="1800" b="0" i="0">
                <a:solidFill>
                  <a:srgbClr val="333333"/>
                </a:solidFill>
                <a:latin typeface="Calibri"/>
              </a:rPr>
              <a:t>L4 — Autoresearcher: the agent runs a multi-experiment loop and keeps a research journal (Exp05)</a:t>
            </a:r>
          </a:p>
          <a:p>
            <a:pPr>
              <a:lnSpc>
                <a:spcPct val="110000"/>
              </a:lnSpc>
              <a:spcAft>
                <a:spcPts val="1200"/>
              </a:spcAft>
            </a:pPr>
            <a:r>
              <a:rPr sz="1800" b="1" i="0">
                <a:solidFill>
                  <a:srgbClr val="188038"/>
                </a:solidFill>
                <a:latin typeface="Calibri"/>
              </a:rPr>
              <a:t>•  </a:t>
            </a:r>
            <a:r>
              <a:rPr sz="1800" b="0" i="0">
                <a:solidFill>
                  <a:srgbClr val="333333"/>
                </a:solidFill>
                <a:latin typeface="Calibri"/>
              </a:rPr>
              <a:t>You can start at L1 on Monday and climb at your own pace</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A 4-rung ladder (L1→L4) with the matching repo artifact beside each rung; reference docs/zero_to_hero.md.</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It's a ladder you can climb gradually — L1 helps on day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TextBox 1"/>
          <p:cNvSpPr txBox="1"/>
          <p:nvPr/>
        </p:nvSpPr>
        <p:spPr>
          <a:xfrm>
            <a:off x="822960" y="2468880"/>
            <a:ext cx="10515600" cy="1828800"/>
          </a:xfrm>
          <a:prstGeom prst="rect">
            <a:avLst/>
          </a:prstGeom>
          <a:noFill/>
        </p:spPr>
        <p:txBody>
          <a:bodyPr wrap="square">
            <a:spAutoFit/>
          </a:bodyPr>
          <a:lstStyle/>
          <a:p>
            <a:r>
              <a:rPr sz="1800" b="1" i="0">
                <a:solidFill>
                  <a:srgbClr val="BFD8C2"/>
                </a:solidFill>
                <a:latin typeface="Calibri"/>
              </a:rPr>
              <a:t>LIVE DEMOS — BEFORE vs AFTER</a:t>
            </a:r>
          </a:p>
          <a:p>
            <a:pPr>
              <a:spcBef>
                <a:spcPts val="800"/>
              </a:spcBef>
            </a:pPr>
            <a:r>
              <a:rPr sz="3400" b="1" i="0">
                <a:solidFill>
                  <a:srgbClr val="FFFFFF"/>
                </a:solidFill>
                <a:latin typeface="Calibri"/>
              </a:rPr>
              <a:t>Four paired experiments, real committed numbers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Live demo (1): Climate time-series forecasting — Exp01</a:t>
            </a:r>
          </a:p>
        </p:txBody>
      </p:sp>
      <p:pic>
        <p:nvPicPr>
          <p:cNvPr id="4" name="Picture 3" descr="forecast_plot.png"/>
          <p:cNvPicPr>
            <a:picLocks noChangeAspect="1"/>
          </p:cNvPicPr>
          <p:nvPr/>
        </p:nvPicPr>
        <p:blipFill>
          <a:blip r:embed="rId2"/>
          <a:stretch>
            <a:fillRect/>
          </a:stretch>
        </p:blipFill>
        <p:spPr>
          <a:xfrm>
            <a:off x="6674060" y="1417320"/>
            <a:ext cx="4574119" cy="2112264"/>
          </a:xfrm>
          <a:prstGeom prst="rect">
            <a:avLst/>
          </a:prstGeom>
        </p:spPr>
      </p:pic>
      <p:pic>
        <p:nvPicPr>
          <p:cNvPr id="5" name="Picture 4" descr="before_after_bars.png"/>
          <p:cNvPicPr>
            <a:picLocks noChangeAspect="1"/>
          </p:cNvPicPr>
          <p:nvPr/>
        </p:nvPicPr>
        <p:blipFill>
          <a:blip r:embed="rId3"/>
          <a:stretch>
            <a:fillRect/>
          </a:stretch>
        </p:blipFill>
        <p:spPr>
          <a:xfrm>
            <a:off x="7440511" y="3694176"/>
            <a:ext cx="3041218" cy="2112264"/>
          </a:xfrm>
          <a:prstGeom prst="rect">
            <a:avLst/>
          </a:prstGeom>
        </p:spPr>
      </p:pic>
      <p:sp>
        <p:nvSpPr>
          <p:cNvPr id="6" name="TextBox 5"/>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Task: forecast a daily temperature-like series; metric RMSE and anomaly correlation (ACC)</a:t>
            </a:r>
          </a:p>
          <a:p>
            <a:pPr>
              <a:lnSpc>
                <a:spcPct val="110000"/>
              </a:lnSpc>
              <a:spcAft>
                <a:spcPts val="1200"/>
              </a:spcAft>
            </a:pPr>
            <a:r>
              <a:rPr sz="1600" b="1" i="0">
                <a:solidFill>
                  <a:srgbClr val="188038"/>
                </a:solidFill>
                <a:latin typeface="Calibri"/>
              </a:rPr>
              <a:t>•  </a:t>
            </a:r>
            <a:r>
              <a:rPr sz="1600" b="0" i="0">
                <a:solidFill>
                  <a:srgbClr val="333333"/>
                </a:solidFill>
                <a:latin typeface="Calibri"/>
              </a:rPr>
              <a:t>BEFORE: persistence / ARIMA baseline (traditional) — persistence RMSE 4.31 °C at 14-day lead</a:t>
            </a:r>
          </a:p>
          <a:p>
            <a:pPr>
              <a:lnSpc>
                <a:spcPct val="110000"/>
              </a:lnSpc>
              <a:spcAft>
                <a:spcPts val="1200"/>
              </a:spcAft>
            </a:pPr>
            <a:r>
              <a:rPr sz="1600" b="1" i="0">
                <a:solidFill>
                  <a:srgbClr val="188038"/>
                </a:solidFill>
                <a:latin typeface="Calibri"/>
              </a:rPr>
              <a:t>•  </a:t>
            </a:r>
            <a:r>
              <a:rPr sz="1600" b="0" i="0">
                <a:solidFill>
                  <a:srgbClr val="333333"/>
                </a:solidFill>
                <a:latin typeface="Calibri"/>
              </a:rPr>
              <a:t>AFTER: LSTM RMSE 2.94 (skill +0.318); SARIMA RMSE 2.10 — all four scored in one run</a:t>
            </a:r>
          </a:p>
          <a:p>
            <a:pPr>
              <a:lnSpc>
                <a:spcPct val="110000"/>
              </a:lnSpc>
              <a:spcAft>
                <a:spcPts val="1200"/>
              </a:spcAft>
            </a:pPr>
            <a:r>
              <a:rPr sz="1600" b="1" i="0">
                <a:solidFill>
                  <a:srgbClr val="188038"/>
                </a:solidFill>
                <a:latin typeface="Calibri"/>
              </a:rPr>
              <a:t>•  </a:t>
            </a:r>
            <a:r>
              <a:rPr sz="1600" b="0" i="0">
                <a:solidFill>
                  <a:srgbClr val="333333"/>
                </a:solidFill>
                <a:latin typeface="Calibri"/>
              </a:rPr>
              <a:t>Command: python experiments/01_climate_timeseries_forecast/run_before_after.py</a:t>
            </a:r>
          </a:p>
          <a:p>
            <a:pPr>
              <a:lnSpc>
                <a:spcPct val="110000"/>
              </a:lnSpc>
              <a:spcAft>
                <a:spcPts val="1200"/>
              </a:spcAft>
            </a:pPr>
            <a:r>
              <a:rPr sz="1600" b="1" i="0">
                <a:solidFill>
                  <a:srgbClr val="188038"/>
                </a:solidFill>
                <a:latin typeface="Calibri"/>
              </a:rPr>
              <a:t>•  </a:t>
            </a:r>
            <a:r>
              <a:rPr sz="1600" b="0" i="0">
                <a:solidFill>
                  <a:srgbClr val="333333"/>
                </a:solidFill>
                <a:latin typeface="Calibri"/>
              </a:rPr>
              <a:t>Honest verdict: SARIMA wins at ≥7-day lead — classical beats the net here</a:t>
            </a:r>
          </a:p>
        </p:txBody>
      </p:sp>
      <p:sp>
        <p:nvSpPr>
          <p:cNvPr id="7" name="TextBox 6"/>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Live terminal, then the generated forecast plot + a BEFORE/AFTER RMSE bar (the repo's before_after_bars helper). Recorded-backup screenshot on the slide as fallback.</a:t>
            </a:r>
          </a:p>
        </p:txBody>
      </p:sp>
      <p:sp>
        <p:nvSpPr>
          <p:cNvPr id="8" name="TextBox 7"/>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One command reproduces the baseline and the learned forecast — with honest splits.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Live demo (2): Extremes &amp; trends — Exp02</a:t>
            </a:r>
          </a:p>
        </p:txBody>
      </p:sp>
      <p:pic>
        <p:nvPicPr>
          <p:cNvPr id="4" name="Picture 3" descr="return_levels.png"/>
          <p:cNvPicPr>
            <a:picLocks noChangeAspect="1"/>
          </p:cNvPicPr>
          <p:nvPr/>
        </p:nvPicPr>
        <p:blipFill>
          <a:blip r:embed="rId2"/>
          <a:stretch>
            <a:fillRect/>
          </a:stretch>
        </p:blipFill>
        <p:spPr>
          <a:xfrm>
            <a:off x="7217274" y="1417320"/>
            <a:ext cx="3487692" cy="2112264"/>
          </a:xfrm>
          <a:prstGeom prst="rect">
            <a:avLst/>
          </a:prstGeom>
        </p:spPr>
      </p:pic>
      <p:pic>
        <p:nvPicPr>
          <p:cNvPr id="5" name="Picture 4" descr="trend_plot.png"/>
          <p:cNvPicPr>
            <a:picLocks noChangeAspect="1"/>
          </p:cNvPicPr>
          <p:nvPr/>
        </p:nvPicPr>
        <p:blipFill>
          <a:blip r:embed="rId3"/>
          <a:stretch>
            <a:fillRect/>
          </a:stretch>
        </p:blipFill>
        <p:spPr>
          <a:xfrm>
            <a:off x="7222537" y="3694176"/>
            <a:ext cx="3477165" cy="2112264"/>
          </a:xfrm>
          <a:prstGeom prst="rect">
            <a:avLst/>
          </a:prstGeom>
        </p:spPr>
      </p:pic>
      <p:sp>
        <p:nvSpPr>
          <p:cNvPr id="6" name="TextBox 5"/>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Task: trend detection + return levels on a precipitation-like series</a:t>
            </a:r>
          </a:p>
          <a:p>
            <a:pPr>
              <a:lnSpc>
                <a:spcPct val="110000"/>
              </a:lnSpc>
              <a:spcAft>
                <a:spcPts val="1200"/>
              </a:spcAft>
            </a:pPr>
            <a:r>
              <a:rPr sz="1600" b="1" i="0">
                <a:solidFill>
                  <a:srgbClr val="188038"/>
                </a:solidFill>
                <a:latin typeface="Calibri"/>
              </a:rPr>
              <a:t>•  </a:t>
            </a:r>
            <a:r>
              <a:rPr sz="1600" b="0" i="0">
                <a:solidFill>
                  <a:srgbClr val="333333"/>
                </a:solidFill>
                <a:latin typeface="Calibri"/>
              </a:rPr>
              <a:t>BEFORE: empirical 100-yr return level 48.6 mm (point estimate, no CI, no checks)</a:t>
            </a:r>
          </a:p>
          <a:p>
            <a:pPr>
              <a:lnSpc>
                <a:spcPct val="110000"/>
              </a:lnSpc>
              <a:spcAft>
                <a:spcPts val="1200"/>
              </a:spcAft>
            </a:pPr>
            <a:r>
              <a:rPr sz="1600" b="1" i="0">
                <a:solidFill>
                  <a:srgbClr val="188038"/>
                </a:solidFill>
                <a:latin typeface="Calibri"/>
              </a:rPr>
              <a:t>•  </a:t>
            </a:r>
            <a:r>
              <a:rPr sz="1600" b="0" i="0">
                <a:solidFill>
                  <a:srgbClr val="333333"/>
                </a:solidFill>
                <a:latin typeface="Calibri"/>
              </a:rPr>
              <a:t>AFTER: GEV 100-yr 55.8 mm [46.7–80.2] + Mann-Kendall trend p=0.0011, with bootstrap CIs</a:t>
            </a:r>
          </a:p>
          <a:p>
            <a:pPr>
              <a:lnSpc>
                <a:spcPct val="110000"/>
              </a:lnSpc>
              <a:spcAft>
                <a:spcPts val="1200"/>
              </a:spcAft>
            </a:pPr>
            <a:r>
              <a:rPr sz="1600" b="1" i="0">
                <a:solidFill>
                  <a:srgbClr val="188038"/>
                </a:solidFill>
                <a:latin typeface="Calibri"/>
              </a:rPr>
              <a:t>•  </a:t>
            </a:r>
            <a:r>
              <a:rPr sz="1600" b="0" i="0">
                <a:solidFill>
                  <a:srgbClr val="333333"/>
                </a:solidFill>
                <a:latin typeface="Calibri"/>
              </a:rPr>
              <a:t>Honest framing: the estimator is the same; the workflow and uncertainty reporting improve</a:t>
            </a:r>
          </a:p>
          <a:p>
            <a:pPr>
              <a:lnSpc>
                <a:spcPct val="110000"/>
              </a:lnSpc>
              <a:spcAft>
                <a:spcPts val="1200"/>
              </a:spcAft>
            </a:pPr>
            <a:r>
              <a:rPr sz="1600" b="1" i="0">
                <a:solidFill>
                  <a:srgbClr val="188038"/>
                </a:solidFill>
                <a:latin typeface="Calibri"/>
              </a:rPr>
              <a:t>•  </a:t>
            </a:r>
            <a:r>
              <a:rPr sz="1600" b="0" i="0">
                <a:solidFill>
                  <a:srgbClr val="333333"/>
                </a:solidFill>
                <a:latin typeface="Calibri"/>
              </a:rPr>
              <a:t>A validate() gate flags its own stationarity violation — empirical method was biased low</a:t>
            </a:r>
          </a:p>
        </p:txBody>
      </p:sp>
      <p:sp>
        <p:nvSpPr>
          <p:cNvPr id="7" name="TextBox 6"/>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Return-level curve with confidence band + a trend slope with its CI; small inset of the auto-generated rigor checklist.</a:t>
            </a:r>
          </a:p>
        </p:txBody>
      </p:sp>
      <p:sp>
        <p:nvSpPr>
          <p:cNvPr id="8" name="TextBox 7"/>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For extremes, AI removes glue-code tax — the EVT stays exactly as rigorous.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Live demo (3): Biodiversity from text — Exp03</a:t>
            </a:r>
          </a:p>
        </p:txBody>
      </p:sp>
      <p:pic>
        <p:nvPicPr>
          <p:cNvPr id="4" name="Picture 3" descr="interaction_network.png"/>
          <p:cNvPicPr>
            <a:picLocks noChangeAspect="1"/>
          </p:cNvPicPr>
          <p:nvPr/>
        </p:nvPicPr>
        <p:blipFill>
          <a:blip r:embed="rId2"/>
          <a:stretch>
            <a:fillRect/>
          </a:stretch>
        </p:blipFill>
        <p:spPr>
          <a:xfrm>
            <a:off x="7576125" y="1417320"/>
            <a:ext cx="2769989" cy="2112264"/>
          </a:xfrm>
          <a:prstGeom prst="rect">
            <a:avLst/>
          </a:prstGeom>
        </p:spPr>
      </p:pic>
      <p:pic>
        <p:nvPicPr>
          <p:cNvPr id="5" name="Picture 4" descr="before_after_bars.png"/>
          <p:cNvPicPr>
            <a:picLocks noChangeAspect="1"/>
          </p:cNvPicPr>
          <p:nvPr/>
        </p:nvPicPr>
        <p:blipFill>
          <a:blip r:embed="rId3"/>
          <a:stretch>
            <a:fillRect/>
          </a:stretch>
        </p:blipFill>
        <p:spPr>
          <a:xfrm>
            <a:off x="7357569" y="3694176"/>
            <a:ext cx="3207102" cy="2112264"/>
          </a:xfrm>
          <a:prstGeom prst="rect">
            <a:avLst/>
          </a:prstGeom>
        </p:spPr>
      </p:pic>
      <p:sp>
        <p:nvSpPr>
          <p:cNvPr id="6" name="TextBox 5"/>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Task: extract species interactions from free text into a structured network</a:t>
            </a:r>
          </a:p>
          <a:p>
            <a:pPr>
              <a:lnSpc>
                <a:spcPct val="110000"/>
              </a:lnSpc>
              <a:spcAft>
                <a:spcPts val="1200"/>
              </a:spcAft>
            </a:pPr>
            <a:r>
              <a:rPr sz="1600" b="1" i="0">
                <a:solidFill>
                  <a:srgbClr val="188038"/>
                </a:solidFill>
                <a:latin typeface="Calibri"/>
              </a:rPr>
              <a:t>•  </a:t>
            </a:r>
            <a:r>
              <a:rPr sz="1600" b="0" i="0">
                <a:solidFill>
                  <a:srgbClr val="333333"/>
                </a:solidFill>
                <a:latin typeface="Calibri"/>
              </a:rPr>
              <a:t>BEFORE: keyword/regex — precision 0.67, recall 0.10, F1 0.18 (brittle on phrasing variation)</a:t>
            </a:r>
          </a:p>
          <a:p>
            <a:pPr>
              <a:lnSpc>
                <a:spcPct val="110000"/>
              </a:lnSpc>
              <a:spcAft>
                <a:spcPts val="1200"/>
              </a:spcAft>
            </a:pPr>
            <a:r>
              <a:rPr sz="1600" b="1" i="0">
                <a:solidFill>
                  <a:srgbClr val="188038"/>
                </a:solidFill>
                <a:latin typeface="Calibri"/>
              </a:rPr>
              <a:t>•  </a:t>
            </a:r>
            <a:r>
              <a:rPr sz="1600" b="0" i="0">
                <a:solidFill>
                  <a:srgbClr val="333333"/>
                </a:solidFill>
                <a:latin typeface="Calibri"/>
              </a:rPr>
              <a:t>AFTER: structured extraction — P/R/F1 1.00 on the closed synthetic corpus</a:t>
            </a:r>
          </a:p>
          <a:p>
            <a:pPr>
              <a:lnSpc>
                <a:spcPct val="110000"/>
              </a:lnSpc>
              <a:spcAft>
                <a:spcPts val="1200"/>
              </a:spcAft>
            </a:pPr>
            <a:r>
              <a:rPr sz="1600" b="1" i="0">
                <a:solidFill>
                  <a:srgbClr val="188038"/>
                </a:solidFill>
                <a:latin typeface="Calibri"/>
              </a:rPr>
              <a:t>•  </a:t>
            </a:r>
            <a:r>
              <a:rPr sz="1600" b="0" i="0">
                <a:solidFill>
                  <a:srgbClr val="333333"/>
                </a:solidFill>
                <a:latin typeface="Calibri"/>
              </a:rPr>
              <a:t>Grounding datasets named only as canonical sources: GBIF, iNaturalist</a:t>
            </a:r>
          </a:p>
          <a:p>
            <a:pPr>
              <a:lnSpc>
                <a:spcPct val="110000"/>
              </a:lnSpc>
              <a:spcAft>
                <a:spcPts val="1200"/>
              </a:spcAft>
            </a:pPr>
            <a:r>
              <a:rPr sz="1600" b="1" i="0">
                <a:solidFill>
                  <a:srgbClr val="188038"/>
                </a:solidFill>
                <a:latin typeface="Calibri"/>
              </a:rPr>
              <a:t>•  </a:t>
            </a:r>
            <a:r>
              <a:rPr sz="1600" b="0" i="0">
                <a:solidFill>
                  <a:srgbClr val="333333"/>
                </a:solidFill>
                <a:latin typeface="Calibri"/>
              </a:rPr>
              <a:t>Recall 10% → 100% is a synthetic ceiling — real data needs human verification</a:t>
            </a:r>
          </a:p>
        </p:txBody>
      </p:sp>
      <p:sp>
        <p:nvSpPr>
          <p:cNvPr id="7" name="TextBox 6"/>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Side-by-side: a sparse regex-derived graph vs a richer LLM-derived interaction network; precision/recall bars beneath.</a:t>
            </a:r>
          </a:p>
        </p:txBody>
      </p:sp>
      <p:sp>
        <p:nvSpPr>
          <p:cNvPr id="8" name="TextBox 7"/>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For text→structure, AI is genuinely better — but only with precision/recall attached.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Live demo (4): Remote-sensing land cover — Exp04</a:t>
            </a:r>
          </a:p>
        </p:txBody>
      </p:sp>
      <p:pic>
        <p:nvPicPr>
          <p:cNvPr id="4" name="Picture 3" descr="before_after_hard_bars.png"/>
          <p:cNvPicPr>
            <a:picLocks noChangeAspect="1"/>
          </p:cNvPicPr>
          <p:nvPr/>
        </p:nvPicPr>
        <p:blipFill>
          <a:blip r:embed="rId2"/>
          <a:stretch>
            <a:fillRect/>
          </a:stretch>
        </p:blipFill>
        <p:spPr>
          <a:xfrm>
            <a:off x="7440511" y="1417320"/>
            <a:ext cx="3041218" cy="2112264"/>
          </a:xfrm>
          <a:prstGeom prst="rect">
            <a:avLst/>
          </a:prstGeom>
        </p:spPr>
      </p:pic>
      <p:pic>
        <p:nvPicPr>
          <p:cNvPr id="5" name="Picture 4" descr="change_map.png"/>
          <p:cNvPicPr>
            <a:picLocks noChangeAspect="1"/>
          </p:cNvPicPr>
          <p:nvPr/>
        </p:nvPicPr>
        <p:blipFill>
          <a:blip r:embed="rId3"/>
          <a:stretch>
            <a:fillRect/>
          </a:stretch>
        </p:blipFill>
        <p:spPr>
          <a:xfrm>
            <a:off x="7782799" y="3694176"/>
            <a:ext cx="2356641" cy="2112264"/>
          </a:xfrm>
          <a:prstGeom prst="rect">
            <a:avLst/>
          </a:prstGeom>
        </p:spPr>
      </p:pic>
      <p:sp>
        <p:nvSpPr>
          <p:cNvPr id="6" name="TextBox 5"/>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Task: land-cover classification from spectral features</a:t>
            </a:r>
          </a:p>
          <a:p>
            <a:pPr>
              <a:lnSpc>
                <a:spcPct val="110000"/>
              </a:lnSpc>
              <a:spcAft>
                <a:spcPts val="1200"/>
              </a:spcAft>
            </a:pPr>
            <a:r>
              <a:rPr sz="1600" b="1" i="0">
                <a:solidFill>
                  <a:srgbClr val="188038"/>
                </a:solidFill>
                <a:latin typeface="Calibri"/>
              </a:rPr>
              <a:t>•  </a:t>
            </a:r>
            <a:r>
              <a:rPr sz="1600" b="0" i="0">
                <a:solidFill>
                  <a:srgbClr val="333333"/>
                </a:solidFill>
                <a:latin typeface="Calibri"/>
              </a:rPr>
              <a:t>BEFORE: Random Forest on spectral indices (NDVI/NDWI) — accuracy 1.00</a:t>
            </a:r>
          </a:p>
          <a:p>
            <a:pPr>
              <a:lnSpc>
                <a:spcPct val="110000"/>
              </a:lnSpc>
              <a:spcAft>
                <a:spcPts val="1200"/>
              </a:spcAft>
            </a:pPr>
            <a:r>
              <a:rPr sz="1600" b="1" i="0">
                <a:solidFill>
                  <a:srgbClr val="188038"/>
                </a:solidFill>
                <a:latin typeface="Calibri"/>
              </a:rPr>
              <a:t>•  </a:t>
            </a:r>
            <a:r>
              <a:rPr sz="1600" b="0" i="0">
                <a:solidFill>
                  <a:srgbClr val="333333"/>
                </a:solidFill>
                <a:latin typeface="Calibri"/>
              </a:rPr>
              <a:t>AFTER: CNN on the 4090 (raw 5-band cube) — accuracy 1.00; change map at F1 1.00</a:t>
            </a:r>
          </a:p>
          <a:p>
            <a:pPr>
              <a:lnSpc>
                <a:spcPct val="110000"/>
              </a:lnSpc>
              <a:spcAft>
                <a:spcPts val="1200"/>
              </a:spcAft>
            </a:pPr>
            <a:r>
              <a:rPr sz="1600" b="1" i="0">
                <a:solidFill>
                  <a:srgbClr val="188038"/>
                </a:solidFill>
                <a:latin typeface="Calibri"/>
              </a:rPr>
              <a:t>•  </a:t>
            </a:r>
            <a:r>
              <a:rPr sz="1600" b="0" i="0">
                <a:solidFill>
                  <a:srgbClr val="333333"/>
                </a:solidFill>
                <a:latin typeface="Calibri"/>
              </a:rPr>
              <a:t>Tie on accuracy (synthetic classes too separable) — change detection is an AFTER-only capability</a:t>
            </a:r>
          </a:p>
          <a:p>
            <a:pPr>
              <a:lnSpc>
                <a:spcPct val="110000"/>
              </a:lnSpc>
              <a:spcAft>
                <a:spcPts val="1200"/>
              </a:spcAft>
            </a:pPr>
            <a:r>
              <a:rPr sz="1600" b="1" i="0">
                <a:solidFill>
                  <a:srgbClr val="188038"/>
                </a:solidFill>
                <a:latin typeface="Calibri"/>
              </a:rPr>
              <a:t>•  </a:t>
            </a:r>
            <a:r>
              <a:rPr sz="1600" b="0" i="0">
                <a:solidFill>
                  <a:srgbClr val="333333"/>
                </a:solidFill>
                <a:latin typeface="Calibri"/>
              </a:rPr>
              <a:t>Verifiable anchor for the modality: EagleVision (arXiv:2503.23330); data source: Sentinel-2</a:t>
            </a:r>
          </a:p>
        </p:txBody>
      </p:sp>
      <p:sp>
        <p:nvSpPr>
          <p:cNvPr id="7" name="TextBox 6"/>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A classified land-cover map and a change-detection map side by side; accuracy/F1 comparison bar.</a:t>
            </a:r>
          </a:p>
        </p:txBody>
      </p:sp>
      <p:sp>
        <p:nvSpPr>
          <p:cNvPr id="8" name="TextBox 7"/>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A desktop GPU now trains real remote-sensing models in minutes.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Bonus demo: Hydrology rainfall-runoff — Exp08</a:t>
            </a:r>
          </a:p>
        </p:txBody>
      </p:sp>
      <p:pic>
        <p:nvPicPr>
          <p:cNvPr id="4" name="Picture 3" descr="hydrograph.png"/>
          <p:cNvPicPr>
            <a:picLocks noChangeAspect="1"/>
          </p:cNvPicPr>
          <p:nvPr/>
        </p:nvPicPr>
        <p:blipFill>
          <a:blip r:embed="rId2"/>
          <a:stretch>
            <a:fillRect/>
          </a:stretch>
        </p:blipFill>
        <p:spPr>
          <a:xfrm>
            <a:off x="6654120" y="1417320"/>
            <a:ext cx="4613999" cy="2112264"/>
          </a:xfrm>
          <a:prstGeom prst="rect">
            <a:avLst/>
          </a:prstGeom>
        </p:spPr>
      </p:pic>
      <p:pic>
        <p:nvPicPr>
          <p:cNvPr id="5" name="Picture 4" descr="before_after_bars.png"/>
          <p:cNvPicPr>
            <a:picLocks noChangeAspect="1"/>
          </p:cNvPicPr>
          <p:nvPr/>
        </p:nvPicPr>
        <p:blipFill>
          <a:blip r:embed="rId3"/>
          <a:stretch>
            <a:fillRect/>
          </a:stretch>
        </p:blipFill>
        <p:spPr>
          <a:xfrm>
            <a:off x="7440511" y="3694176"/>
            <a:ext cx="3041218" cy="2112264"/>
          </a:xfrm>
          <a:prstGeom prst="rect">
            <a:avLst/>
          </a:prstGeom>
        </p:spPr>
      </p:pic>
      <p:sp>
        <p:nvSpPr>
          <p:cNvPr id="6" name="TextBox 5"/>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Task: predict daily streamflow from rainfall on a synthetic catchment; metric NSE / KGE</a:t>
            </a:r>
          </a:p>
          <a:p>
            <a:pPr>
              <a:lnSpc>
                <a:spcPct val="110000"/>
              </a:lnSpc>
              <a:spcAft>
                <a:spcPts val="1200"/>
              </a:spcAft>
            </a:pPr>
            <a:r>
              <a:rPr sz="1600" b="1" i="0">
                <a:solidFill>
                  <a:srgbClr val="188038"/>
                </a:solidFill>
                <a:latin typeface="Calibri"/>
              </a:rPr>
              <a:t>•  </a:t>
            </a:r>
            <a:r>
              <a:rPr sz="1600" b="0" i="0">
                <a:solidFill>
                  <a:srgbClr val="333333"/>
                </a:solidFill>
                <a:latin typeface="Calibri"/>
              </a:rPr>
              <a:t>BEFORE: linear / conceptual bucket model — NSE 0.14 (can't carry catchment state)</a:t>
            </a:r>
          </a:p>
          <a:p>
            <a:pPr>
              <a:lnSpc>
                <a:spcPct val="110000"/>
              </a:lnSpc>
              <a:spcAft>
                <a:spcPts val="1200"/>
              </a:spcAft>
            </a:pPr>
            <a:r>
              <a:rPr sz="1600" b="1" i="0">
                <a:solidFill>
                  <a:srgbClr val="188038"/>
                </a:solidFill>
                <a:latin typeface="Calibri"/>
              </a:rPr>
              <a:t>•  </a:t>
            </a:r>
            <a:r>
              <a:rPr sz="1600" b="0" i="0">
                <a:solidFill>
                  <a:srgbClr val="333333"/>
                </a:solidFill>
                <a:latin typeface="Calibri"/>
              </a:rPr>
              <a:t>AFTER: LSTM rainfall-runoff model — NSE 0.70 (+0.56 NSE / +0.51 KGE)</a:t>
            </a:r>
          </a:p>
          <a:p>
            <a:pPr>
              <a:lnSpc>
                <a:spcPct val="110000"/>
              </a:lnSpc>
              <a:spcAft>
                <a:spcPts val="1200"/>
              </a:spcAft>
            </a:pPr>
            <a:r>
              <a:rPr sz="1600" b="1" i="0">
                <a:solidFill>
                  <a:srgbClr val="188038"/>
                </a:solidFill>
                <a:latin typeface="Calibri"/>
              </a:rPr>
              <a:t>•  </a:t>
            </a:r>
            <a:r>
              <a:rPr sz="1600" b="0" i="0">
                <a:solidFill>
                  <a:srgbClr val="333333"/>
                </a:solidFill>
                <a:latin typeface="Calibri"/>
              </a:rPr>
              <a:t>Why it wins: the LSTM carries soil-moisture / snow / routing state the linear model drops</a:t>
            </a:r>
          </a:p>
          <a:p>
            <a:pPr>
              <a:lnSpc>
                <a:spcPct val="110000"/>
              </a:lnSpc>
              <a:spcAft>
                <a:spcPts val="1200"/>
              </a:spcAft>
            </a:pPr>
            <a:r>
              <a:rPr sz="1600" b="1" i="0">
                <a:solidFill>
                  <a:srgbClr val="188038"/>
                </a:solidFill>
                <a:latin typeface="Calibri"/>
              </a:rPr>
              <a:t>•  </a:t>
            </a:r>
            <a:r>
              <a:rPr sz="1600" b="0" i="0">
                <a:solidFill>
                  <a:srgbClr val="333333"/>
                </a:solidFill>
                <a:latin typeface="Calibri"/>
              </a:rPr>
              <a:t>Command: python experiments/08_hydrology_streamflow/run_before_after.py</a:t>
            </a:r>
          </a:p>
        </p:txBody>
      </p:sp>
      <p:sp>
        <p:nvSpPr>
          <p:cNvPr id="7" name="TextBox 6"/>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Observed-vs-predicted hydrograph (BEFORE linear vs AFTER LSTM) plus a BEFORE/AFTER NSE bar.</a:t>
            </a:r>
          </a:p>
        </p:txBody>
      </p:sp>
      <p:sp>
        <p:nvSpPr>
          <p:cNvPr id="8" name="TextBox 7"/>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A clean AFTER win: the classic LSTM-hydrology result, reproduced in one command.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Bonus demo: Calibrated uncertainty — Exp12</a:t>
            </a:r>
          </a:p>
        </p:txBody>
      </p:sp>
      <p:pic>
        <p:nvPicPr>
          <p:cNvPr id="4" name="Picture 3" descr="coverage_plot.png"/>
          <p:cNvPicPr>
            <a:picLocks noChangeAspect="1"/>
          </p:cNvPicPr>
          <p:nvPr/>
        </p:nvPicPr>
        <p:blipFill>
          <a:blip r:embed="rId2"/>
          <a:stretch>
            <a:fillRect/>
          </a:stretch>
        </p:blipFill>
        <p:spPr>
          <a:xfrm>
            <a:off x="6837352" y="1417320"/>
            <a:ext cx="4247535" cy="4389120"/>
          </a:xfrm>
          <a:prstGeom prst="rect">
            <a:avLst/>
          </a:prstGeom>
        </p:spPr>
      </p:pic>
      <p:sp>
        <p:nvSpPr>
          <p:cNvPr id="5" name="TextBox 4"/>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Task: build prediction intervals that actually cover at the nominal rate</a:t>
            </a:r>
          </a:p>
          <a:p>
            <a:pPr>
              <a:lnSpc>
                <a:spcPct val="110000"/>
              </a:lnSpc>
              <a:spcAft>
                <a:spcPts val="1200"/>
              </a:spcAft>
            </a:pPr>
            <a:r>
              <a:rPr sz="1600" b="1" i="0">
                <a:solidFill>
                  <a:srgbClr val="188038"/>
                </a:solidFill>
                <a:latin typeface="Calibri"/>
              </a:rPr>
              <a:t>•  </a:t>
            </a:r>
            <a:r>
              <a:rPr sz="1600" b="0" i="0">
                <a:solidFill>
                  <a:srgbClr val="333333"/>
                </a:solidFill>
                <a:latin typeface="Calibri"/>
              </a:rPr>
              <a:t>BEFORE: normal-theory PIs — 80% nominal but 86.9% empirical (miscalibrated under heavy tails)</a:t>
            </a:r>
          </a:p>
          <a:p>
            <a:pPr>
              <a:lnSpc>
                <a:spcPct val="110000"/>
              </a:lnSpc>
              <a:spcAft>
                <a:spcPts val="1200"/>
              </a:spcAft>
            </a:pPr>
            <a:r>
              <a:rPr sz="1600" b="1" i="0">
                <a:solidFill>
                  <a:srgbClr val="188038"/>
                </a:solidFill>
                <a:latin typeface="Calibri"/>
              </a:rPr>
              <a:t>•  </a:t>
            </a:r>
            <a:r>
              <a:rPr sz="1600" b="0" i="0">
                <a:solidFill>
                  <a:srgbClr val="333333"/>
                </a:solidFill>
                <a:latin typeface="Calibri"/>
              </a:rPr>
              <a:t>AFTER: split / normalized conformal PIs — distribution-free finite-sample coverage</a:t>
            </a:r>
          </a:p>
          <a:p>
            <a:pPr>
              <a:lnSpc>
                <a:spcPct val="110000"/>
              </a:lnSpc>
              <a:spcAft>
                <a:spcPts val="1200"/>
              </a:spcAft>
            </a:pPr>
            <a:r>
              <a:rPr sz="1600" b="1" i="0">
                <a:solidFill>
                  <a:srgbClr val="188038"/>
                </a:solidFill>
                <a:latin typeface="Calibri"/>
              </a:rPr>
              <a:t>•  </a:t>
            </a:r>
            <a:r>
              <a:rPr sz="1600" b="0" i="0">
                <a:solidFill>
                  <a:srgbClr val="333333"/>
                </a:solidFill>
                <a:latin typeface="Calibri"/>
              </a:rPr>
              <a:t>Result: mean coverage gap 0.033 → 0.004 (~7× tighter) AND narrower bands (6.37 → 5.22 °C at 80%)</a:t>
            </a:r>
          </a:p>
          <a:p>
            <a:pPr>
              <a:lnSpc>
                <a:spcPct val="110000"/>
              </a:lnSpc>
              <a:spcAft>
                <a:spcPts val="1200"/>
              </a:spcAft>
            </a:pPr>
            <a:r>
              <a:rPr sz="1600" b="1" i="0">
                <a:solidFill>
                  <a:srgbClr val="188038"/>
                </a:solidFill>
                <a:latin typeface="Calibri"/>
              </a:rPr>
              <a:t>•  </a:t>
            </a:r>
            <a:r>
              <a:rPr sz="1600" b="0" i="0">
                <a:solidFill>
                  <a:srgbClr val="333333"/>
                </a:solidFill>
                <a:latin typeface="Calibri"/>
              </a:rPr>
              <a:t>Command: python experiments/12_conformal_uncertainty/run_before_after.py</a:t>
            </a:r>
          </a:p>
        </p:txBody>
      </p:sp>
      <p:sp>
        <p:nvSpPr>
          <p:cNvPr id="6" name="TextBox 5"/>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Coverage plot: nominal vs empirical coverage for normal-theory vs conformal PIs across target levels.</a:t>
            </a:r>
          </a:p>
        </p:txBody>
      </p:sp>
      <p:sp>
        <p:nvSpPr>
          <p:cNvPr id="7" name="TextBox 6"/>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Conformal prediction makes uncertainty honest: calibrated coverage and sharper bands.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Bonus demo: Bayesian hierarchical — MCMC vs amortized — Exp09</a:t>
            </a:r>
          </a:p>
        </p:txBody>
      </p:sp>
      <p:pic>
        <p:nvPicPr>
          <p:cNvPr id="4" name="Picture 3" descr="posterior_intervals.png"/>
          <p:cNvPicPr>
            <a:picLocks noChangeAspect="1"/>
          </p:cNvPicPr>
          <p:nvPr/>
        </p:nvPicPr>
        <p:blipFill>
          <a:blip r:embed="rId2"/>
          <a:stretch>
            <a:fillRect/>
          </a:stretch>
        </p:blipFill>
        <p:spPr>
          <a:xfrm>
            <a:off x="6624470" y="1417320"/>
            <a:ext cx="4673300" cy="2112264"/>
          </a:xfrm>
          <a:prstGeom prst="rect">
            <a:avLst/>
          </a:prstGeom>
        </p:spPr>
      </p:pic>
      <p:pic>
        <p:nvPicPr>
          <p:cNvPr id="5" name="Picture 4" descr="before_after_bars.png"/>
          <p:cNvPicPr>
            <a:picLocks noChangeAspect="1"/>
          </p:cNvPicPr>
          <p:nvPr/>
        </p:nvPicPr>
        <p:blipFill>
          <a:blip r:embed="rId3"/>
          <a:stretch>
            <a:fillRect/>
          </a:stretch>
        </p:blipFill>
        <p:spPr>
          <a:xfrm>
            <a:off x="6446520" y="3758993"/>
            <a:ext cx="5029200" cy="1982630"/>
          </a:xfrm>
          <a:prstGeom prst="rect">
            <a:avLst/>
          </a:prstGeom>
        </p:spPr>
      </p:pic>
      <p:sp>
        <p:nvSpPr>
          <p:cNvPr id="6" name="TextBox 5"/>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Task: posterior inference for a partial-pooling hierarchical model on many datasets</a:t>
            </a:r>
          </a:p>
          <a:p>
            <a:pPr>
              <a:lnSpc>
                <a:spcPct val="110000"/>
              </a:lnSpc>
              <a:spcAft>
                <a:spcPts val="1200"/>
              </a:spcAft>
            </a:pPr>
            <a:r>
              <a:rPr sz="1600" b="1" i="0">
                <a:solidFill>
                  <a:srgbClr val="188038"/>
                </a:solidFill>
                <a:latin typeface="Calibri"/>
              </a:rPr>
              <a:t>•  </a:t>
            </a:r>
            <a:r>
              <a:rPr sz="1600" b="0" i="0">
                <a:solidFill>
                  <a:srgbClr val="333333"/>
                </a:solidFill>
                <a:latin typeface="Calibri"/>
              </a:rPr>
              <a:t>BEFORE: from-scratch Metropolis-Hastings — 11.6 s per new dataset (re-run every time)</a:t>
            </a:r>
          </a:p>
          <a:p>
            <a:pPr>
              <a:lnSpc>
                <a:spcPct val="110000"/>
              </a:lnSpc>
              <a:spcAft>
                <a:spcPts val="1200"/>
              </a:spcAft>
            </a:pPr>
            <a:r>
              <a:rPr sz="1600" b="1" i="0">
                <a:solidFill>
                  <a:srgbClr val="188038"/>
                </a:solidFill>
                <a:latin typeface="Calibri"/>
              </a:rPr>
              <a:t>•  </a:t>
            </a:r>
            <a:r>
              <a:rPr sz="1600" b="0" i="0">
                <a:solidFill>
                  <a:srgbClr val="333333"/>
                </a:solidFill>
                <a:latin typeface="Calibri"/>
              </a:rPr>
              <a:t>AFTER: small MLP amortized over simulations — scores a new dataset in 0.008 s</a:t>
            </a:r>
          </a:p>
          <a:p>
            <a:pPr>
              <a:lnSpc>
                <a:spcPct val="110000"/>
              </a:lnSpc>
              <a:spcAft>
                <a:spcPts val="1200"/>
              </a:spcAft>
            </a:pPr>
            <a:r>
              <a:rPr sz="1600" b="1" i="0">
                <a:solidFill>
                  <a:srgbClr val="188038"/>
                </a:solidFill>
                <a:latin typeface="Calibri"/>
              </a:rPr>
              <a:t>•  </a:t>
            </a:r>
            <a:r>
              <a:rPr sz="1600" b="0" i="0">
                <a:solidFill>
                  <a:srgbClr val="333333"/>
                </a:solidFill>
                <a:latin typeface="Calibri"/>
              </a:rPr>
              <a:t>Train-once cost 24.5 s pays back from the 2nd dataset onward</a:t>
            </a:r>
          </a:p>
          <a:p>
            <a:pPr>
              <a:lnSpc>
                <a:spcPct val="110000"/>
              </a:lnSpc>
              <a:spcAft>
                <a:spcPts val="1200"/>
              </a:spcAft>
            </a:pPr>
            <a:r>
              <a:rPr sz="1600" b="1" i="0">
                <a:solidFill>
                  <a:srgbClr val="188038"/>
                </a:solidFill>
                <a:latin typeface="Calibri"/>
              </a:rPr>
              <a:t>•  </a:t>
            </a:r>
            <a:r>
              <a:rPr sz="1600" b="0" i="0">
                <a:solidFill>
                  <a:srgbClr val="333333"/>
                </a:solidFill>
                <a:latin typeface="Calibri"/>
              </a:rPr>
              <a:t>Coverage parity at ≥95% nominal; amortized intervals are wider — honest sharpness/speed tradeoff</a:t>
            </a:r>
          </a:p>
        </p:txBody>
      </p:sp>
      <p:sp>
        <p:nvSpPr>
          <p:cNvPr id="7" name="TextBox 6"/>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Posterior-interval comparison (MCMC vs amortized) across datasets, plus a BEFORE/AFTER timing bar.</a:t>
            </a:r>
          </a:p>
        </p:txBody>
      </p:sp>
      <p:sp>
        <p:nvSpPr>
          <p:cNvPr id="8" name="TextBox 7"/>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~1451× faster at scoring; same coverage; honest about wider intervals.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Bonus demo: Species distribution modeling — Exp10</a:t>
            </a:r>
          </a:p>
        </p:txBody>
      </p:sp>
      <p:pic>
        <p:nvPicPr>
          <p:cNvPr id="4" name="Picture 3" descr="suitability_map.png"/>
          <p:cNvPicPr>
            <a:picLocks noChangeAspect="1"/>
          </p:cNvPicPr>
          <p:nvPr/>
        </p:nvPicPr>
        <p:blipFill>
          <a:blip r:embed="rId2"/>
          <a:stretch>
            <a:fillRect/>
          </a:stretch>
        </p:blipFill>
        <p:spPr>
          <a:xfrm>
            <a:off x="6446520" y="2754904"/>
            <a:ext cx="5029200" cy="1713951"/>
          </a:xfrm>
          <a:prstGeom prst="rect">
            <a:avLst/>
          </a:prstGeom>
        </p:spPr>
      </p:pic>
      <p:sp>
        <p:nvSpPr>
          <p:cNvPr id="5" name="TextBox 4"/>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Task: predict species presence from climate + elevation covariates</a:t>
            </a:r>
          </a:p>
          <a:p>
            <a:pPr>
              <a:lnSpc>
                <a:spcPct val="110000"/>
              </a:lnSpc>
              <a:spcAft>
                <a:spcPts val="1200"/>
              </a:spcAft>
            </a:pPr>
            <a:r>
              <a:rPr sz="1600" b="1" i="0">
                <a:solidFill>
                  <a:srgbClr val="188038"/>
                </a:solidFill>
                <a:latin typeface="Calibri"/>
              </a:rPr>
              <a:t>•  </a:t>
            </a:r>
            <a:r>
              <a:rPr sz="1600" b="0" i="0">
                <a:solidFill>
                  <a:srgbClr val="333333"/>
                </a:solidFill>
                <a:latin typeface="Calibri"/>
              </a:rPr>
              <a:t>BEFORE: logistic GLM with squared terms — AUC 0.705, Brier 0.124, suit-corr 0.696</a:t>
            </a:r>
          </a:p>
          <a:p>
            <a:pPr>
              <a:lnSpc>
                <a:spcPct val="110000"/>
              </a:lnSpc>
              <a:spcAft>
                <a:spcPts val="1200"/>
              </a:spcAft>
            </a:pPr>
            <a:r>
              <a:rPr sz="1600" b="1" i="0">
                <a:solidFill>
                  <a:srgbClr val="188038"/>
                </a:solidFill>
                <a:latin typeface="Calibri"/>
              </a:rPr>
              <a:t>•  </a:t>
            </a:r>
            <a:r>
              <a:rPr sz="1600" b="0" i="0">
                <a:solidFill>
                  <a:srgbClr val="333333"/>
                </a:solidFill>
                <a:latin typeface="Calibri"/>
              </a:rPr>
              <a:t>AFTER: calibrated gradient boosting on the same covariates — AUC 0.728, Brier 0.122, suit-corr 0.884</a:t>
            </a:r>
          </a:p>
          <a:p>
            <a:pPr>
              <a:lnSpc>
                <a:spcPct val="110000"/>
              </a:lnSpc>
              <a:spcAft>
                <a:spcPts val="1200"/>
              </a:spcAft>
            </a:pPr>
            <a:r>
              <a:rPr sz="1600" b="1" i="0">
                <a:solidFill>
                  <a:srgbClr val="188038"/>
                </a:solidFill>
                <a:latin typeface="Calibri"/>
              </a:rPr>
              <a:t>•  </a:t>
            </a:r>
            <a:r>
              <a:rPr sz="1600" b="0" i="0">
                <a:solidFill>
                  <a:srgbClr val="333333"/>
                </a:solidFill>
                <a:latin typeface="Calibri"/>
              </a:rPr>
              <a:t>GBM recovers the elevation × climate interaction the GLM can't encode (+0.188 surface corr)</a:t>
            </a:r>
          </a:p>
          <a:p>
            <a:pPr>
              <a:lnSpc>
                <a:spcPct val="110000"/>
              </a:lnSpc>
              <a:spcAft>
                <a:spcPts val="1200"/>
              </a:spcAft>
            </a:pPr>
            <a:r>
              <a:rPr sz="1600" b="1" i="0">
                <a:solidFill>
                  <a:srgbClr val="188038"/>
                </a:solidFill>
                <a:latin typeface="Calibri"/>
              </a:rPr>
              <a:t>•  </a:t>
            </a:r>
            <a:r>
              <a:rPr sz="1600" b="0" i="0">
                <a:solidFill>
                  <a:srgbClr val="333333"/>
                </a:solidFill>
                <a:latin typeface="Calibri"/>
              </a:rPr>
              <a:t>Honest caveat: GLM still safer for extrapolation outside the training envelope</a:t>
            </a:r>
          </a:p>
        </p:txBody>
      </p:sp>
      <p:sp>
        <p:nvSpPr>
          <p:cNvPr id="6" name="TextBox 5"/>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Predicted suitability map (BEFORE GLM vs AFTER GBM) over the synthetic landscape, with the true-suitability surface for reference.</a:t>
            </a:r>
          </a:p>
        </p:txBody>
      </p:sp>
      <p:sp>
        <p:nvSpPr>
          <p:cNvPr id="7" name="TextBox 6"/>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AFTER wins on all 3 metrics; the surface gain dwarfs the AUC gain.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TextBox 1"/>
          <p:cNvSpPr txBox="1"/>
          <p:nvPr/>
        </p:nvSpPr>
        <p:spPr>
          <a:xfrm>
            <a:off x="822960" y="2468880"/>
            <a:ext cx="10515600" cy="1828800"/>
          </a:xfrm>
          <a:prstGeom prst="rect">
            <a:avLst/>
          </a:prstGeom>
          <a:noFill/>
        </p:spPr>
        <p:txBody>
          <a:bodyPr wrap="square">
            <a:spAutoFit/>
          </a:bodyPr>
          <a:lstStyle/>
          <a:p>
            <a:r>
              <a:rPr sz="1800" b="1" i="0">
                <a:solidFill>
                  <a:srgbClr val="BFD8C2"/>
                </a:solidFill>
                <a:latin typeface="Calibri"/>
              </a:rPr>
              <a:t>THE FLAGSHIP</a:t>
            </a:r>
          </a:p>
          <a:p>
            <a:pPr>
              <a:spcBef>
                <a:spcPts val="800"/>
              </a:spcBef>
            </a:pPr>
            <a:r>
              <a:rPr sz="3400" b="1" i="0">
                <a:solidFill>
                  <a:srgbClr val="FFFFFF"/>
                </a:solidFill>
                <a:latin typeface="Calibri"/>
              </a:rPr>
              <a:t>An autonomous research loop — Exp05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The flagship: an autonomous research loop — Exp05</a:t>
            </a:r>
          </a:p>
        </p:txBody>
      </p:sp>
      <p:pic>
        <p:nvPicPr>
          <p:cNvPr id="4" name="Picture 3" descr="champion_progress.png"/>
          <p:cNvPicPr>
            <a:picLocks noChangeAspect="1"/>
          </p:cNvPicPr>
          <p:nvPr/>
        </p:nvPicPr>
        <p:blipFill>
          <a:blip r:embed="rId2"/>
          <a:stretch>
            <a:fillRect/>
          </a:stretch>
        </p:blipFill>
        <p:spPr>
          <a:xfrm>
            <a:off x="6446520" y="2150693"/>
            <a:ext cx="5029200" cy="2922373"/>
          </a:xfrm>
          <a:prstGeom prst="rect">
            <a:avLst/>
          </a:prstGeom>
        </p:spPr>
      </p:pic>
      <p:sp>
        <p:nvSpPr>
          <p:cNvPr id="5" name="TextBox 4"/>
          <p:cNvSpPr txBox="1"/>
          <p:nvPr/>
        </p:nvSpPr>
        <p:spPr>
          <a:xfrm>
            <a:off x="640080" y="1371600"/>
            <a:ext cx="5440680" cy="3840480"/>
          </a:xfrm>
          <a:prstGeom prst="rect">
            <a:avLst/>
          </a:prstGeom>
          <a:noFill/>
        </p:spPr>
        <p:txBody>
          <a:bodyPr wrap="square">
            <a:spAutoFit/>
          </a:bodyPr>
          <a:lstStyle/>
          <a:p>
            <a:pPr>
              <a:lnSpc>
                <a:spcPct val="110000"/>
              </a:lnSpc>
              <a:spcAft>
                <a:spcPts val="1200"/>
              </a:spcAft>
            </a:pPr>
            <a:r>
              <a:rPr sz="1600" b="1" i="0">
                <a:solidFill>
                  <a:srgbClr val="188038"/>
                </a:solidFill>
                <a:latin typeface="Calibri"/>
              </a:rPr>
              <a:t>•  </a:t>
            </a:r>
            <a:r>
              <a:rPr sz="1600" b="0" i="0">
                <a:solidFill>
                  <a:srgbClr val="333333"/>
                </a:solidFill>
                <a:latin typeface="Calibri"/>
              </a:rPr>
              <a:t>The agent is the researcher: Diagnose → Cite → Hypothesize → Predict → Execute → Analyze → Checkpoint</a:t>
            </a:r>
          </a:p>
          <a:p>
            <a:pPr>
              <a:lnSpc>
                <a:spcPct val="110000"/>
              </a:lnSpc>
              <a:spcAft>
                <a:spcPts val="1200"/>
              </a:spcAft>
            </a:pPr>
            <a:r>
              <a:rPr sz="1600" b="1" i="0">
                <a:solidFill>
                  <a:srgbClr val="188038"/>
                </a:solidFill>
                <a:latin typeface="Calibri"/>
              </a:rPr>
              <a:t>•  </a:t>
            </a:r>
            <a:r>
              <a:rPr sz="1600" b="0" i="0">
                <a:solidFill>
                  <a:srgbClr val="333333"/>
                </a:solidFill>
                <a:latin typeface="Calibri"/>
              </a:rPr>
              <a:t>Hard gates before any run: citation-rigor + reasoning-completeness (no ungrounded experiments)</a:t>
            </a:r>
          </a:p>
          <a:p>
            <a:pPr>
              <a:lnSpc>
                <a:spcPct val="110000"/>
              </a:lnSpc>
              <a:spcAft>
                <a:spcPts val="1200"/>
              </a:spcAft>
            </a:pPr>
            <a:r>
              <a:rPr sz="1600" b="1" i="0">
                <a:solidFill>
                  <a:srgbClr val="188038"/>
                </a:solidFill>
                <a:latin typeface="Calibri"/>
              </a:rPr>
              <a:t>•  </a:t>
            </a:r>
            <a:r>
              <a:rPr sz="1600" b="0" i="0">
                <a:solidFill>
                  <a:srgbClr val="333333"/>
                </a:solidFill>
                <a:latin typeface="Calibri"/>
              </a:rPr>
              <a:t>Gated 6-experiment loop ran in ~38 s; champion +8.0% skill (RMSE 1.95→1.79 °C), monotone composite</a:t>
            </a:r>
          </a:p>
          <a:p>
            <a:pPr>
              <a:lnSpc>
                <a:spcPct val="110000"/>
              </a:lnSpc>
              <a:spcAft>
                <a:spcPts val="1200"/>
              </a:spcAft>
            </a:pPr>
            <a:r>
              <a:rPr sz="1600" b="1" i="0">
                <a:solidFill>
                  <a:srgbClr val="188038"/>
                </a:solidFill>
                <a:latin typeface="Calibri"/>
              </a:rPr>
              <a:t>•  </a:t>
            </a:r>
            <a:r>
              <a:rPr sz="1600" b="0" i="0">
                <a:solidFill>
                  <a:srgbClr val="333333"/>
                </a:solidFill>
                <a:latin typeface="Calibri"/>
              </a:rPr>
              <a:t>Adapted from the user's own dlmastery/autoresearch (generalized_ml_autoresearch)</a:t>
            </a:r>
          </a:p>
          <a:p>
            <a:pPr>
              <a:lnSpc>
                <a:spcPct val="110000"/>
              </a:lnSpc>
              <a:spcAft>
                <a:spcPts val="1200"/>
              </a:spcAft>
            </a:pPr>
            <a:r>
              <a:rPr sz="1600" b="1" i="0">
                <a:solidFill>
                  <a:srgbClr val="188038"/>
                </a:solidFill>
                <a:latin typeface="Calibri"/>
              </a:rPr>
              <a:t>•  </a:t>
            </a:r>
            <a:r>
              <a:rPr sz="1600" b="0" i="0">
                <a:solidFill>
                  <a:srgbClr val="333333"/>
                </a:solidFill>
                <a:latin typeface="Calibri"/>
              </a:rPr>
              <a:t>Pluggable backbones / splits / composite metric; champion archive + research journal; runs on one 4090</a:t>
            </a:r>
          </a:p>
        </p:txBody>
      </p:sp>
      <p:sp>
        <p:nvSpPr>
          <p:cNvPr id="6" name="TextBox 5"/>
          <p:cNvSpPr txBox="1"/>
          <p:nvPr/>
        </p:nvSpPr>
        <p:spPr>
          <a:xfrm>
            <a:off x="640080" y="5440680"/>
            <a:ext cx="5440680" cy="548640"/>
          </a:xfrm>
          <a:prstGeom prst="rect">
            <a:avLst/>
          </a:prstGeom>
          <a:noFill/>
        </p:spPr>
        <p:txBody>
          <a:bodyPr wrap="square">
            <a:spAutoFit/>
          </a:bodyPr>
          <a:lstStyle/>
          <a:p>
            <a:r>
              <a:rPr sz="1000" b="0" i="1">
                <a:solidFill>
                  <a:srgbClr val="9AA0A6"/>
                </a:solidFill>
                <a:latin typeface="Calibri"/>
              </a:rPr>
              <a:t>[Figure: committed result] The 7-step loop as a circle with the two hard gates drawn as locks before "Execute"; a thumbnail of the champion-archive folder + research-journal entry. Reference docs/autoresearch_protocol.md.</a:t>
            </a:r>
          </a:p>
        </p:txBody>
      </p:sp>
      <p:sp>
        <p:nvSpPr>
          <p:cNvPr id="7" name="TextBox 6"/>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The loop makes the agent a researcher — gated so it can't fish for significance.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Autoresearch, honestly: what it does and doesn't do</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DOES: explore a defined search space fast, document every step, archive the winner</a:t>
            </a:r>
          </a:p>
          <a:p>
            <a:pPr>
              <a:lnSpc>
                <a:spcPct val="110000"/>
              </a:lnSpc>
              <a:spcAft>
                <a:spcPts val="1200"/>
              </a:spcAft>
            </a:pPr>
            <a:r>
              <a:rPr sz="1800" b="1" i="0">
                <a:solidFill>
                  <a:srgbClr val="188038"/>
                </a:solidFill>
                <a:latin typeface="Calibri"/>
              </a:rPr>
              <a:t>•  </a:t>
            </a:r>
            <a:r>
              <a:rPr sz="1800" b="0" i="0">
                <a:solidFill>
                  <a:srgbClr val="333333"/>
                </a:solidFill>
                <a:latin typeface="Calibri"/>
              </a:rPr>
              <a:t>DOESN'T: choose your scientific question, your loss, or your validity criteria — you do</a:t>
            </a:r>
          </a:p>
          <a:p>
            <a:pPr>
              <a:lnSpc>
                <a:spcPct val="110000"/>
              </a:lnSpc>
              <a:spcAft>
                <a:spcPts val="1200"/>
              </a:spcAft>
            </a:pPr>
            <a:r>
              <a:rPr sz="1800" b="1" i="0">
                <a:solidFill>
                  <a:srgbClr val="188038"/>
                </a:solidFill>
                <a:latin typeface="Calibri"/>
              </a:rPr>
              <a:t>•  </a:t>
            </a:r>
            <a:r>
              <a:rPr sz="1800" b="0" i="0">
                <a:solidFill>
                  <a:srgbClr val="333333"/>
                </a:solidFill>
                <a:latin typeface="Calibri"/>
              </a:rPr>
              <a:t>Guardrails: composite-metric fingerprint detects mid-project goal rewrites</a:t>
            </a:r>
          </a:p>
          <a:p>
            <a:pPr>
              <a:lnSpc>
                <a:spcPct val="110000"/>
              </a:lnSpc>
              <a:spcAft>
                <a:spcPts val="1200"/>
              </a:spcAft>
            </a:pPr>
            <a:r>
              <a:rPr sz="1800" b="1" i="0">
                <a:solidFill>
                  <a:srgbClr val="188038"/>
                </a:solidFill>
                <a:latin typeface="Calibri"/>
              </a:rPr>
              <a:t>•  </a:t>
            </a:r>
            <a:r>
              <a:rPr sz="1800" b="0" i="0">
                <a:solidFill>
                  <a:srgbClr val="333333"/>
                </a:solidFill>
                <a:latin typeface="Calibri"/>
              </a:rPr>
              <a:t>Reproducibility: deterministic seeds; crash-recovery checkpoints</a:t>
            </a:r>
          </a:p>
          <a:p>
            <a:pPr>
              <a:lnSpc>
                <a:spcPct val="110000"/>
              </a:lnSpc>
              <a:spcAft>
                <a:spcPts val="1200"/>
              </a:spcAft>
            </a:pPr>
            <a:r>
              <a:rPr sz="1800" b="1" i="0">
                <a:solidFill>
                  <a:srgbClr val="188038"/>
                </a:solidFill>
                <a:latin typeface="Calibri"/>
              </a:rPr>
              <a:t>•  </a:t>
            </a:r>
            <a:r>
              <a:rPr sz="1800" b="0" i="0">
                <a:solidFill>
                  <a:srgbClr val="333333"/>
                </a:solidFill>
                <a:latin typeface="Calibri"/>
              </a:rPr>
              <a:t>Output is a draft to review, not a paper to trust blindly</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A two-column "DOES / DOESN'T" card; a small lock icon for the metric-fingerprint guardrail.</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Autoresearch searches the space you define — it never defines the question.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Challenges &amp; rigor: keeping the human in the loop</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Leakage &amp; look-ahead: the most common failure — enforce chronological/spatial splits</a:t>
            </a:r>
          </a:p>
          <a:p>
            <a:pPr>
              <a:lnSpc>
                <a:spcPct val="110000"/>
              </a:lnSpc>
              <a:spcAft>
                <a:spcPts val="1200"/>
              </a:spcAft>
            </a:pPr>
            <a:r>
              <a:rPr sz="1800" b="1" i="0">
                <a:solidFill>
                  <a:srgbClr val="188038"/>
                </a:solidFill>
                <a:latin typeface="Calibri"/>
              </a:rPr>
              <a:t>•  </a:t>
            </a:r>
            <a:r>
              <a:rPr sz="1800" b="0" i="0">
                <a:solidFill>
                  <a:srgbClr val="333333"/>
                </a:solidFill>
                <a:latin typeface="Calibri"/>
              </a:rPr>
              <a:t>Multiple testing across many stations/species/cells — correct for it</a:t>
            </a:r>
          </a:p>
          <a:p>
            <a:pPr>
              <a:lnSpc>
                <a:spcPct val="110000"/>
              </a:lnSpc>
              <a:spcAft>
                <a:spcPts val="1200"/>
              </a:spcAft>
            </a:pPr>
            <a:r>
              <a:rPr sz="1800" b="1" i="0">
                <a:solidFill>
                  <a:srgbClr val="188038"/>
                </a:solidFill>
                <a:latin typeface="Calibri"/>
              </a:rPr>
              <a:t>•  </a:t>
            </a:r>
            <a:r>
              <a:rPr sz="1800" b="0" i="0">
                <a:solidFill>
                  <a:srgbClr val="333333"/>
                </a:solidFill>
                <a:latin typeface="Calibri"/>
              </a:rPr>
              <a:t>Uncertainty is mandatory: report intervals, not point estimates</a:t>
            </a:r>
          </a:p>
          <a:p>
            <a:pPr>
              <a:lnSpc>
                <a:spcPct val="110000"/>
              </a:lnSpc>
              <a:spcAft>
                <a:spcPts val="1200"/>
              </a:spcAft>
            </a:pPr>
            <a:r>
              <a:rPr sz="1800" b="1" i="0">
                <a:solidFill>
                  <a:srgbClr val="188038"/>
                </a:solidFill>
                <a:latin typeface="Calibri"/>
              </a:rPr>
              <a:t>•  </a:t>
            </a:r>
            <a:r>
              <a:rPr sz="1800" b="0" i="0">
                <a:solidFill>
                  <a:srgbClr val="333333"/>
                </a:solidFill>
                <a:latin typeface="Calibri"/>
              </a:rPr>
              <a:t>Hallucinated citations / numbers — verify; quarantine the unverified (ledgers/CITATIONS-TO-VERIFY.md)</a:t>
            </a:r>
          </a:p>
          <a:p>
            <a:pPr>
              <a:lnSpc>
                <a:spcPct val="110000"/>
              </a:lnSpc>
              <a:spcAft>
                <a:spcPts val="1200"/>
              </a:spcAft>
            </a:pPr>
            <a:r>
              <a:rPr sz="1800" b="1" i="0">
                <a:solidFill>
                  <a:srgbClr val="188038"/>
                </a:solidFill>
                <a:latin typeface="Calibri"/>
              </a:rPr>
              <a:t>•  </a:t>
            </a:r>
            <a:r>
              <a:rPr sz="1800" b="0" i="0">
                <a:solidFill>
                  <a:srgbClr val="333333"/>
                </a:solidFill>
                <a:latin typeface="Calibri"/>
              </a:rPr>
              <a:t>Reproducibility: seeds, committed results, runs-anywhere on synthetic data</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A "human-in-the-loop" diagram: agent proposes → human checks the five risk items → accept/reject; the five items listed as a checklist.</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The human owns five checks — leakage, multiplicity, uncertainty, citations, reproducibility.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What you can do Monday</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Today: install Claude Code; ask it to reproduce one figure from your last paper</a:t>
            </a:r>
          </a:p>
          <a:p>
            <a:pPr>
              <a:lnSpc>
                <a:spcPct val="110000"/>
              </a:lnSpc>
              <a:spcAft>
                <a:spcPts val="1200"/>
              </a:spcAft>
            </a:pPr>
            <a:r>
              <a:rPr sz="1800" b="1" i="0">
                <a:solidFill>
                  <a:srgbClr val="188038"/>
                </a:solidFill>
                <a:latin typeface="Calibri"/>
              </a:rPr>
              <a:t>•  </a:t>
            </a:r>
            <a:r>
              <a:rPr sz="1800" b="0" i="0">
                <a:solidFill>
                  <a:srgbClr val="333333"/>
                </a:solidFill>
                <a:latin typeface="Calibri"/>
              </a:rPr>
              <a:t>This week: hand it a full small pipeline — "fetch ERA5, fit a trend, validate, plot"</a:t>
            </a:r>
          </a:p>
          <a:p>
            <a:pPr>
              <a:lnSpc>
                <a:spcPct val="110000"/>
              </a:lnSpc>
              <a:spcAft>
                <a:spcPts val="1200"/>
              </a:spcAft>
            </a:pPr>
            <a:r>
              <a:rPr sz="1800" b="1" i="0">
                <a:solidFill>
                  <a:srgbClr val="188038"/>
                </a:solidFill>
                <a:latin typeface="Calibri"/>
              </a:rPr>
              <a:t>•  </a:t>
            </a:r>
            <a:r>
              <a:rPr sz="1800" b="0" i="0">
                <a:solidFill>
                  <a:srgbClr val="333333"/>
                </a:solidFill>
                <a:latin typeface="Calibri"/>
              </a:rPr>
              <a:t>This month: write one skill that encodes your group's validation conventions</a:t>
            </a:r>
          </a:p>
          <a:p>
            <a:pPr>
              <a:lnSpc>
                <a:spcPct val="110000"/>
              </a:lnSpc>
              <a:spcAft>
                <a:spcPts val="1200"/>
              </a:spcAft>
            </a:pPr>
            <a:r>
              <a:rPr sz="1800" b="1" i="0">
                <a:solidFill>
                  <a:srgbClr val="188038"/>
                </a:solidFill>
                <a:latin typeface="Calibri"/>
              </a:rPr>
              <a:t>•  </a:t>
            </a:r>
            <a:r>
              <a:rPr sz="1800" b="0" i="0">
                <a:solidFill>
                  <a:srgbClr val="333333"/>
                </a:solidFill>
                <a:latin typeface="Calibri"/>
              </a:rPr>
              <a:t>Start on synthetic / small public data — no keys, no GPU — then scale up</a:t>
            </a:r>
          </a:p>
          <a:p>
            <a:pPr>
              <a:lnSpc>
                <a:spcPct val="110000"/>
              </a:lnSpc>
              <a:spcAft>
                <a:spcPts val="1200"/>
              </a:spcAft>
            </a:pPr>
            <a:r>
              <a:rPr sz="1800" b="1" i="0">
                <a:solidFill>
                  <a:srgbClr val="188038"/>
                </a:solidFill>
                <a:latin typeface="Calibri"/>
              </a:rPr>
              <a:t>•  </a:t>
            </a:r>
            <a:r>
              <a:rPr sz="1800" b="0" i="0">
                <a:solidFill>
                  <a:srgbClr val="333333"/>
                </a:solidFill>
                <a:latin typeface="Calibri"/>
              </a:rPr>
              <a:t>Clone this repo and run experiments/01_.../run_before_after.py as your template</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A three-step "Today / This week / This month" timeline card mirroring the handout; a small QR placeholder to the repo.</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You can start today on synthetic data — no keys, no GPU required.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Vision: the 100×-faster lab</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The scarce resource becomes good questions and good judgment, not labor</a:t>
            </a:r>
          </a:p>
          <a:p>
            <a:pPr>
              <a:lnSpc>
                <a:spcPct val="110000"/>
              </a:lnSpc>
              <a:spcAft>
                <a:spcPts val="1200"/>
              </a:spcAft>
            </a:pPr>
            <a:r>
              <a:rPr sz="1800" b="1" i="0">
                <a:solidFill>
                  <a:srgbClr val="188038"/>
                </a:solidFill>
                <a:latin typeface="Calibri"/>
              </a:rPr>
              <a:t>•  </a:t>
            </a:r>
            <a:r>
              <a:rPr sz="1800" b="0" i="0">
                <a:solidFill>
                  <a:srgbClr val="333333"/>
                </a:solidFill>
                <a:latin typeface="Calibri"/>
              </a:rPr>
              <a:t>Each scientist runs a small team of agents; reproducibility and audit trails improve, not degrade</a:t>
            </a:r>
          </a:p>
          <a:p>
            <a:pPr>
              <a:lnSpc>
                <a:spcPct val="110000"/>
              </a:lnSpc>
              <a:spcAft>
                <a:spcPts val="1200"/>
              </a:spcAft>
            </a:pPr>
            <a:r>
              <a:rPr sz="1800" b="1" i="0">
                <a:solidFill>
                  <a:srgbClr val="188038"/>
                </a:solidFill>
                <a:latin typeface="Calibri"/>
              </a:rPr>
              <a:t>•  </a:t>
            </a:r>
            <a:r>
              <a:rPr sz="1800" b="0" i="0">
                <a:solidFill>
                  <a:srgbClr val="333333"/>
                </a:solidFill>
                <a:latin typeface="Calibri"/>
              </a:rPr>
              <a:t>Open data + desktop GPUs + agents → individual scientists doing institution-scale work</a:t>
            </a:r>
          </a:p>
          <a:p>
            <a:pPr>
              <a:lnSpc>
                <a:spcPct val="110000"/>
              </a:lnSpc>
              <a:spcAft>
                <a:spcPts val="1200"/>
              </a:spcAft>
            </a:pPr>
            <a:r>
              <a:rPr sz="1800" b="1" i="0">
                <a:solidFill>
                  <a:srgbClr val="188038"/>
                </a:solidFill>
                <a:latin typeface="Calibri"/>
              </a:rPr>
              <a:t>•  </a:t>
            </a:r>
            <a:r>
              <a:rPr sz="1800" b="0" i="0">
                <a:solidFill>
                  <a:srgbClr val="333333"/>
                </a:solidFill>
                <a:latin typeface="Calibri"/>
              </a:rPr>
              <a:t>The statistician's role grows: assumptions, validity, interpretation, communication</a:t>
            </a:r>
          </a:p>
          <a:p>
            <a:pPr>
              <a:lnSpc>
                <a:spcPct val="110000"/>
              </a:lnSpc>
              <a:spcAft>
                <a:spcPts val="1200"/>
              </a:spcAft>
            </a:pPr>
            <a:r>
              <a:rPr sz="1800" b="1" i="0">
                <a:solidFill>
                  <a:srgbClr val="188038"/>
                </a:solidFill>
                <a:latin typeface="Calibri"/>
              </a:rPr>
              <a:t>•  </a:t>
            </a:r>
            <a:r>
              <a:rPr sz="1800" b="0" i="0">
                <a:solidFill>
                  <a:srgbClr val="333333"/>
                </a:solidFill>
                <a:latin typeface="Calibri"/>
              </a:rPr>
              <a:t>The repo is the proof-of-concept; your lab is the next instance</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A single scientist at a laptop with several "agent" worker icons fanning out to the taxonomy cells; calm, optimistic framing.</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When labor is cheap, scientific judgment becomes the differentiator.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908792" cy="914400"/>
          </a:xfrm>
          <a:prstGeom prst="rect">
            <a:avLst/>
          </a:prstGeom>
          <a:noFill/>
        </p:spPr>
        <p:txBody>
          <a:bodyPr wrap="square">
            <a:spAutoFit/>
          </a:bodyPr>
          <a:lstStyle/>
          <a:p>
            <a:r>
              <a:rPr sz="2800" b="1" i="0">
                <a:solidFill>
                  <a:srgbClr val="1A3A5C"/>
                </a:solidFill>
                <a:latin typeface="Calibri"/>
              </a:rPr>
              <a:t>Thank you · resources · reproduce everything</a:t>
            </a:r>
          </a:p>
        </p:txBody>
      </p:sp>
      <p:sp>
        <p:nvSpPr>
          <p:cNvPr id="4" name="TextBox 3"/>
          <p:cNvSpPr txBox="1"/>
          <p:nvPr/>
        </p:nvSpPr>
        <p:spPr>
          <a:xfrm>
            <a:off x="640080" y="1371600"/>
            <a:ext cx="10908792" cy="3840480"/>
          </a:xfrm>
          <a:prstGeom prst="rect">
            <a:avLst/>
          </a:prstGeom>
          <a:noFill/>
        </p:spPr>
        <p:txBody>
          <a:bodyPr wrap="square">
            <a:spAutoFit/>
          </a:bodyPr>
          <a:lstStyle/>
          <a:p>
            <a:pPr>
              <a:lnSpc>
                <a:spcPct val="110000"/>
              </a:lnSpc>
              <a:spcAft>
                <a:spcPts val="1200"/>
              </a:spcAft>
            </a:pPr>
            <a:r>
              <a:rPr sz="1800" b="1" i="0">
                <a:solidFill>
                  <a:srgbClr val="188038"/>
                </a:solidFill>
                <a:latin typeface="Calibri"/>
              </a:rPr>
              <a:t>•  </a:t>
            </a:r>
            <a:r>
              <a:rPr sz="1800" b="0" i="0">
                <a:solidFill>
                  <a:srgbClr val="333333"/>
                </a:solidFill>
                <a:latin typeface="Calibri"/>
              </a:rPr>
              <a:t>Repo: environment_stats_talk (companion code + committed results + this deck)</a:t>
            </a:r>
          </a:p>
          <a:p>
            <a:pPr>
              <a:lnSpc>
                <a:spcPct val="110000"/>
              </a:lnSpc>
              <a:spcAft>
                <a:spcPts val="1200"/>
              </a:spcAft>
            </a:pPr>
            <a:r>
              <a:rPr sz="1800" b="1" i="0">
                <a:solidFill>
                  <a:srgbClr val="188038"/>
                </a:solidFill>
                <a:latin typeface="Calibri"/>
              </a:rPr>
              <a:t>•  </a:t>
            </a:r>
            <a:r>
              <a:rPr sz="1800" b="0" i="0">
                <a:solidFill>
                  <a:srgbClr val="333333"/>
                </a:solidFill>
                <a:latin typeface="Calibri"/>
              </a:rPr>
              <a:t>Reproduce everything: python run_all_tests.py (tests) + each experiment's run_before_after.py</a:t>
            </a:r>
          </a:p>
          <a:p>
            <a:pPr>
              <a:lnSpc>
                <a:spcPct val="110000"/>
              </a:lnSpc>
              <a:spcAft>
                <a:spcPts val="1200"/>
              </a:spcAft>
            </a:pPr>
            <a:r>
              <a:rPr sz="1800" b="1" i="0">
                <a:solidFill>
                  <a:srgbClr val="188038"/>
                </a:solidFill>
                <a:latin typeface="Calibri"/>
              </a:rPr>
              <a:t>•  </a:t>
            </a:r>
            <a:r>
              <a:rPr sz="1800" b="0" i="0">
                <a:solidFill>
                  <a:srgbClr val="333333"/>
                </a:solidFill>
                <a:latin typeface="Calibri"/>
              </a:rPr>
              <a:t>Verifiable anchors: ClimateLLM 2502.11059 · CLLMate 2409.19058 · AI co-scientist 2502.18864 · AI-Scientist-v2 2504.08066 · EagleVision 2503.23330</a:t>
            </a:r>
          </a:p>
          <a:p>
            <a:pPr>
              <a:lnSpc>
                <a:spcPct val="110000"/>
              </a:lnSpc>
              <a:spcAft>
                <a:spcPts val="1200"/>
              </a:spcAft>
            </a:pPr>
            <a:r>
              <a:rPr sz="1800" b="1" i="0">
                <a:solidFill>
                  <a:srgbClr val="188038"/>
                </a:solidFill>
                <a:latin typeface="Calibri"/>
              </a:rPr>
              <a:t>•  </a:t>
            </a:r>
            <a:r>
              <a:rPr sz="1800" b="0" i="0">
                <a:solidFill>
                  <a:srgbClr val="333333"/>
                </a:solidFill>
                <a:latin typeface="Calibri"/>
              </a:rPr>
              <a:t>Datasets: ERA5 · GBIF · iNaturalist · Sentinel-2 · CAMELS · OpenAQ</a:t>
            </a:r>
          </a:p>
          <a:p>
            <a:pPr>
              <a:lnSpc>
                <a:spcPct val="110000"/>
              </a:lnSpc>
              <a:spcAft>
                <a:spcPts val="1200"/>
              </a:spcAft>
            </a:pPr>
            <a:r>
              <a:rPr sz="1800" b="1" i="0">
                <a:solidFill>
                  <a:srgbClr val="188038"/>
                </a:solidFill>
                <a:latin typeface="Calibri"/>
              </a:rPr>
              <a:t>•  </a:t>
            </a:r>
            <a:r>
              <a:rPr sz="1800" b="0" i="0">
                <a:solidFill>
                  <a:srgbClr val="333333"/>
                </a:solidFill>
                <a:latin typeface="Calibri"/>
              </a:rPr>
              <a:t>Handout: docs/talk/handout.md (copy-paste prompts + action plan) · Contact: eranti@gmail.com</a:t>
            </a:r>
          </a:p>
        </p:txBody>
      </p:sp>
      <p:sp>
        <p:nvSpPr>
          <p:cNvPr id="5" name="TextBox 4"/>
          <p:cNvSpPr txBox="1"/>
          <p:nvPr/>
        </p:nvSpPr>
        <p:spPr>
          <a:xfrm>
            <a:off x="640080" y="5349240"/>
            <a:ext cx="10908792" cy="640080"/>
          </a:xfrm>
          <a:prstGeom prst="rect">
            <a:avLst/>
          </a:prstGeom>
          <a:noFill/>
        </p:spPr>
        <p:txBody>
          <a:bodyPr wrap="square">
            <a:spAutoFit/>
          </a:bodyPr>
          <a:lstStyle/>
          <a:p>
            <a:r>
              <a:rPr sz="1100" b="0" i="1">
                <a:solidFill>
                  <a:srgbClr val="9AA0A6"/>
                </a:solidFill>
                <a:latin typeface="Calibri"/>
              </a:rPr>
              <a:t>[Visual placeholder] A clean resource card with the arXiv IDs and dataset names, a QR placeholder to the public repo, and contact info.</a:t>
            </a:r>
          </a:p>
        </p:txBody>
      </p:sp>
      <p:sp>
        <p:nvSpPr>
          <p:cNvPr id="6" name="TextBox 5"/>
          <p:cNvSpPr txBox="1"/>
          <p:nvPr/>
        </p:nvSpPr>
        <p:spPr>
          <a:xfrm>
            <a:off x="640080" y="5989320"/>
            <a:ext cx="10908792" cy="640080"/>
          </a:xfrm>
          <a:prstGeom prst="rect">
            <a:avLst/>
          </a:prstGeom>
          <a:noFill/>
        </p:spPr>
        <p:txBody>
          <a:bodyPr wrap="square" anchor="ctr">
            <a:spAutoFit/>
          </a:bodyPr>
          <a:lstStyle/>
          <a:p>
            <a:r>
              <a:rPr sz="1600" b="1" i="0">
                <a:solidFill>
                  <a:srgbClr val="188038"/>
                </a:solidFill>
                <a:latin typeface="Calibri"/>
              </a:rPr>
              <a:t>TAKEAWAY: Take the handout, clone the repo, and try one prompt tonight.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